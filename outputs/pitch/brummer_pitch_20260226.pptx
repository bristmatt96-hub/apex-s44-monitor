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731520" y="1371600"/>
            <a:ext cx="18288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554480"/>
            <a:ext cx="10728655" cy="548640"/>
          </a:xfrm>
          <a:prstGeom prst="rect">
            <a:avLst/>
          </a:prstGeom>
          <a:noFill/>
        </p:spPr>
        <p:txBody>
          <a:bodyPr wrap="square">
            <a:spAutoFit/>
          </a:bodyPr>
          <a:lstStyle/>
          <a:p>
            <a:pPr algn="l">
              <a:defRPr sz="3000" b="1">
                <a:solidFill>
                  <a:srgbClr val="FFFFFF"/>
                </a:solidFill>
                <a:latin typeface="Calibri"/>
              </a:defRPr>
            </a:pPr>
            <a:r>
              <a:t>EUROPEAN MACRO CREDIT TRADING STRATEGIES</a:t>
            </a:r>
          </a:p>
        </p:txBody>
      </p:sp>
      <p:sp>
        <p:nvSpPr>
          <p:cNvPr id="4" name="TextBox 3"/>
          <p:cNvSpPr txBox="1"/>
          <p:nvPr/>
        </p:nvSpPr>
        <p:spPr>
          <a:xfrm>
            <a:off x="731520" y="2286000"/>
            <a:ext cx="10728655" cy="365760"/>
          </a:xfrm>
          <a:prstGeom prst="rect">
            <a:avLst/>
          </a:prstGeom>
          <a:noFill/>
        </p:spPr>
        <p:txBody>
          <a:bodyPr wrap="square">
            <a:spAutoFit/>
          </a:bodyPr>
          <a:lstStyle/>
          <a:p>
            <a:pPr algn="l">
              <a:defRPr sz="1600" b="0">
                <a:solidFill>
                  <a:srgbClr val="3B82F6"/>
                </a:solidFill>
                <a:latin typeface="Calibri"/>
              </a:defRPr>
            </a:pPr>
            <a:r>
              <a:t>CDS  |  Bonds  |  Single Names  |  Tranches  |  Credit Options</a:t>
            </a:r>
          </a:p>
        </p:txBody>
      </p:sp>
      <p:sp>
        <p:nvSpPr>
          <p:cNvPr id="5" name="Rectangle 4"/>
          <p:cNvSpPr/>
          <p:nvPr/>
        </p:nvSpPr>
        <p:spPr>
          <a:xfrm>
            <a:off x="731520" y="3017520"/>
            <a:ext cx="3657600" cy="18288"/>
          </a:xfrm>
          <a:prstGeom prst="rect">
            <a:avLst/>
          </a:prstGeom>
          <a:solidFill>
            <a:srgbClr val="415A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291840"/>
            <a:ext cx="10728655" cy="365760"/>
          </a:xfrm>
          <a:prstGeom prst="rect">
            <a:avLst/>
          </a:prstGeom>
          <a:noFill/>
        </p:spPr>
        <p:txBody>
          <a:bodyPr wrap="square">
            <a:spAutoFit/>
          </a:bodyPr>
          <a:lstStyle/>
          <a:p>
            <a:pPr algn="l">
              <a:defRPr sz="2200" b="1">
                <a:solidFill>
                  <a:srgbClr val="FFFFFF"/>
                </a:solidFill>
                <a:latin typeface="Calibri"/>
              </a:defRPr>
            </a:pPr>
            <a:r>
              <a:t>Matt Bristow</a:t>
            </a:r>
          </a:p>
        </p:txBody>
      </p:sp>
      <p:sp>
        <p:nvSpPr>
          <p:cNvPr id="7" name="TextBox 6"/>
          <p:cNvSpPr txBox="1"/>
          <p:nvPr/>
        </p:nvSpPr>
        <p:spPr>
          <a:xfrm>
            <a:off x="731520" y="3749039"/>
            <a:ext cx="10728655" cy="365760"/>
          </a:xfrm>
          <a:prstGeom prst="rect">
            <a:avLst/>
          </a:prstGeom>
          <a:noFill/>
        </p:spPr>
        <p:txBody>
          <a:bodyPr wrap="square">
            <a:spAutoFit/>
          </a:bodyPr>
          <a:lstStyle/>
          <a:p>
            <a:pPr algn="l">
              <a:defRPr sz="1400" b="0">
                <a:solidFill>
                  <a:srgbClr val="778DA9"/>
                </a:solidFill>
                <a:latin typeface="Calibri"/>
              </a:defRPr>
            </a:pPr>
            <a:r>
              <a:t>28 Years  |  Bear Stearns  |  Barclays Capital  |  Bank of America</a:t>
            </a:r>
          </a:p>
        </p:txBody>
      </p:sp>
      <p:sp>
        <p:nvSpPr>
          <p:cNvPr id="8" name="TextBox 7"/>
          <p:cNvSpPr txBox="1"/>
          <p:nvPr/>
        </p:nvSpPr>
        <p:spPr>
          <a:xfrm>
            <a:off x="731520" y="5669280"/>
            <a:ext cx="10728655" cy="274320"/>
          </a:xfrm>
          <a:prstGeom prst="rect">
            <a:avLst/>
          </a:prstGeom>
          <a:noFill/>
        </p:spPr>
        <p:txBody>
          <a:bodyPr wrap="square">
            <a:spAutoFit/>
          </a:bodyPr>
          <a:lstStyle/>
          <a:p>
            <a:pPr algn="l">
              <a:defRPr sz="1000" b="0">
                <a:solidFill>
                  <a:srgbClr val="415A77"/>
                </a:solidFill>
                <a:latin typeface="Calibri"/>
              </a:defRPr>
            </a:pPr>
            <a:r>
              <a:t>C O N F I D E N T I A L</a:t>
            </a:r>
          </a:p>
        </p:txBody>
      </p:sp>
      <p:sp>
        <p:nvSpPr>
          <p:cNvPr id="9" name="TextBox 8"/>
          <p:cNvSpPr txBox="1"/>
          <p:nvPr/>
        </p:nvSpPr>
        <p:spPr>
          <a:xfrm>
            <a:off x="731520" y="6035040"/>
            <a:ext cx="10728655" cy="274320"/>
          </a:xfrm>
          <a:prstGeom prst="rect">
            <a:avLst/>
          </a:prstGeom>
          <a:noFill/>
        </p:spPr>
        <p:txBody>
          <a:bodyPr wrap="square">
            <a:spAutoFit/>
          </a:bodyPr>
          <a:lstStyle/>
          <a:p>
            <a:pPr algn="l">
              <a:defRPr sz="1000" b="0">
                <a:solidFill>
                  <a:srgbClr val="415A77"/>
                </a:solidFill>
                <a:latin typeface="Calibri"/>
              </a:defRPr>
            </a:pPr>
            <a:r>
              <a:t>Prepared for Brummer &amp; Partners  |  2026-02-26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9144000" cy="457200"/>
          </a:xfrm>
          <a:prstGeom prst="rect">
            <a:avLst/>
          </a:prstGeom>
          <a:noFill/>
        </p:spPr>
        <p:txBody>
          <a:bodyPr wrap="square">
            <a:spAutoFit/>
          </a:bodyPr>
          <a:lstStyle/>
          <a:p>
            <a:pPr algn="l">
              <a:defRPr sz="2400" b="1">
                <a:solidFill>
                  <a:srgbClr val="FFFFFF"/>
                </a:solidFill>
                <a:latin typeface="Calibri"/>
              </a:defRPr>
            </a:pPr>
            <a:r>
              <a:t>THE EDGE</a:t>
            </a:r>
          </a:p>
        </p:txBody>
      </p:sp>
      <p:sp>
        <p:nvSpPr>
          <p:cNvPr id="4" name="TextBox 3"/>
          <p:cNvSpPr txBox="1"/>
          <p:nvPr/>
        </p:nvSpPr>
        <p:spPr>
          <a:xfrm>
            <a:off x="731520" y="594360"/>
            <a:ext cx="9144000" cy="365760"/>
          </a:xfrm>
          <a:prstGeom prst="rect">
            <a:avLst/>
          </a:prstGeom>
          <a:noFill/>
        </p:spPr>
        <p:txBody>
          <a:bodyPr wrap="square">
            <a:spAutoFit/>
          </a:bodyPr>
          <a:lstStyle/>
          <a:p>
            <a:pPr algn="l">
              <a:defRPr sz="1300" b="0">
                <a:solidFill>
                  <a:srgbClr val="778DA9"/>
                </a:solidFill>
                <a:latin typeface="Calibri"/>
              </a:defRPr>
            </a:pPr>
            <a:r>
              <a:t>Three structural advantages in European credit</a:t>
            </a:r>
          </a:p>
        </p:txBody>
      </p:sp>
      <p:sp>
        <p:nvSpPr>
          <p:cNvPr id="5" name="TextBox 4"/>
          <p:cNvSpPr txBox="1"/>
          <p:nvPr/>
        </p:nvSpPr>
        <p:spPr>
          <a:xfrm>
            <a:off x="9326880" y="228600"/>
            <a:ext cx="2560320" cy="365760"/>
          </a:xfrm>
          <a:prstGeom prst="rect">
            <a:avLst/>
          </a:prstGeom>
          <a:noFill/>
        </p:spPr>
        <p:txBody>
          <a:bodyPr wrap="square">
            <a:spAutoFit/>
          </a:bodyPr>
          <a:lstStyle/>
          <a:p>
            <a:pPr algn="r">
              <a:defRPr sz="1100" b="1">
                <a:solidFill>
                  <a:srgbClr val="3B82F6"/>
                </a:solidFill>
                <a:latin typeface="Calibri"/>
              </a:defRPr>
            </a:pPr>
            <a:r>
              <a:t>MACRO CREDIT MONITOR</a:t>
            </a:r>
          </a:p>
        </p:txBody>
      </p:sp>
      <p:sp>
        <p:nvSpPr>
          <p:cNvPr id="6" name="TextBox 5"/>
          <p:cNvSpPr txBox="1"/>
          <p:nvPr/>
        </p:nvSpPr>
        <p:spPr>
          <a:xfrm>
            <a:off x="731520" y="6400800"/>
            <a:ext cx="9144000" cy="274320"/>
          </a:xfrm>
          <a:prstGeom prst="rect">
            <a:avLst/>
          </a:prstGeom>
          <a:noFill/>
        </p:spPr>
        <p:txBody>
          <a:bodyPr wrap="square">
            <a:spAutoFit/>
          </a:bodyPr>
          <a:lstStyle/>
          <a:p>
            <a:pPr algn="l">
              <a:defRPr sz="800" b="0">
                <a:solidFill>
                  <a:srgbClr val="778DA9"/>
                </a:solidFill>
                <a:latin typeface="Calibri"/>
              </a:defRPr>
            </a:pPr>
            <a:r>
              <a:t>BRUMMER &amp; PARTNERS PITCH  |  CONFIDENTIAL  |  2026-02-26</a:t>
            </a:r>
          </a:p>
        </p:txBody>
      </p:sp>
      <p:sp>
        <p:nvSpPr>
          <p:cNvPr id="7" name="TextBox 6"/>
          <p:cNvSpPr txBox="1"/>
          <p:nvPr/>
        </p:nvSpPr>
        <p:spPr>
          <a:xfrm>
            <a:off x="731520" y="1371600"/>
            <a:ext cx="457200" cy="365760"/>
          </a:xfrm>
          <a:prstGeom prst="rect">
            <a:avLst/>
          </a:prstGeom>
          <a:noFill/>
        </p:spPr>
        <p:txBody>
          <a:bodyPr wrap="square">
            <a:spAutoFit/>
          </a:bodyPr>
          <a:lstStyle/>
          <a:p>
            <a:pPr algn="l">
              <a:defRPr sz="2800" b="1">
                <a:solidFill>
                  <a:srgbClr val="3B82F6"/>
                </a:solidFill>
                <a:latin typeface="Calibri"/>
              </a:defRPr>
            </a:pPr>
            <a:r>
              <a:t>01</a:t>
            </a:r>
          </a:p>
        </p:txBody>
      </p:sp>
      <p:sp>
        <p:nvSpPr>
          <p:cNvPr id="8" name="TextBox 7"/>
          <p:cNvSpPr txBox="1"/>
          <p:nvPr/>
        </p:nvSpPr>
        <p:spPr>
          <a:xfrm>
            <a:off x="1280160" y="1371600"/>
            <a:ext cx="10180015" cy="320040"/>
          </a:xfrm>
          <a:prstGeom prst="rect">
            <a:avLst/>
          </a:prstGeom>
          <a:noFill/>
        </p:spPr>
        <p:txBody>
          <a:bodyPr wrap="square">
            <a:spAutoFit/>
          </a:bodyPr>
          <a:lstStyle/>
          <a:p>
            <a:pPr algn="l">
              <a:defRPr sz="1400" b="1">
                <a:solidFill>
                  <a:srgbClr val="0D1B2A"/>
                </a:solidFill>
                <a:latin typeface="Calibri"/>
              </a:defRPr>
            </a:pPr>
            <a:r>
              <a:t>The Information Gap Is Structural</a:t>
            </a:r>
          </a:p>
        </p:txBody>
      </p:sp>
      <p:sp>
        <p:nvSpPr>
          <p:cNvPr id="9" name="TextBox 8"/>
          <p:cNvSpPr txBox="1"/>
          <p:nvPr/>
        </p:nvSpPr>
        <p:spPr>
          <a:xfrm>
            <a:off x="1280160" y="1719072"/>
            <a:ext cx="10180015" cy="1097280"/>
          </a:xfrm>
          <a:prstGeom prst="rect">
            <a:avLst/>
          </a:prstGeom>
          <a:noFill/>
        </p:spPr>
        <p:txBody>
          <a:bodyPr wrap="square">
            <a:spAutoFit/>
          </a:bodyPr>
          <a:lstStyle/>
          <a:p>
            <a:pPr algn="l">
              <a:defRPr sz="1100" b="0">
                <a:solidFill>
                  <a:srgbClr val="415A77"/>
                </a:solidFill>
                <a:latin typeface="Calibri"/>
              </a:defRPr>
            </a:pPr>
            <a:r>
              <a:t>Credit documentation is dense, complex, and under-analysed. Names trade at spreads that don't reflect their true covenant risk, leverage trajectory, or restructuring probability. Post-2020 bond documents are significantly more complex -- the analysis required to understand the real risk has grown. My AI engine scales this documentation analysis across 200 names simultaneously, identifying mispricings that manual processes miss.</a:t>
            </a:r>
          </a:p>
        </p:txBody>
      </p:sp>
      <p:sp>
        <p:nvSpPr>
          <p:cNvPr id="10" name="TextBox 9"/>
          <p:cNvSpPr txBox="1"/>
          <p:nvPr/>
        </p:nvSpPr>
        <p:spPr>
          <a:xfrm>
            <a:off x="731520" y="3063240"/>
            <a:ext cx="457200" cy="365760"/>
          </a:xfrm>
          <a:prstGeom prst="rect">
            <a:avLst/>
          </a:prstGeom>
          <a:noFill/>
        </p:spPr>
        <p:txBody>
          <a:bodyPr wrap="square">
            <a:spAutoFit/>
          </a:bodyPr>
          <a:lstStyle/>
          <a:p>
            <a:pPr algn="l">
              <a:defRPr sz="2800" b="1">
                <a:solidFill>
                  <a:srgbClr val="3B82F6"/>
                </a:solidFill>
                <a:latin typeface="Calibri"/>
              </a:defRPr>
            </a:pPr>
            <a:r>
              <a:t>02</a:t>
            </a:r>
          </a:p>
        </p:txBody>
      </p:sp>
      <p:sp>
        <p:nvSpPr>
          <p:cNvPr id="11" name="TextBox 10"/>
          <p:cNvSpPr txBox="1"/>
          <p:nvPr/>
        </p:nvSpPr>
        <p:spPr>
          <a:xfrm>
            <a:off x="1280160" y="3063240"/>
            <a:ext cx="10180015" cy="320040"/>
          </a:xfrm>
          <a:prstGeom prst="rect">
            <a:avLst/>
          </a:prstGeom>
          <a:noFill/>
        </p:spPr>
        <p:txBody>
          <a:bodyPr wrap="square">
            <a:spAutoFit/>
          </a:bodyPr>
          <a:lstStyle/>
          <a:p>
            <a:pPr algn="l">
              <a:defRPr sz="1400" b="1">
                <a:solidFill>
                  <a:srgbClr val="0D1B2A"/>
                </a:solidFill>
                <a:latin typeface="Calibri"/>
              </a:defRPr>
            </a:pPr>
            <a:r>
              <a:t>The Combination Is Rare</a:t>
            </a:r>
          </a:p>
        </p:txBody>
      </p:sp>
      <p:sp>
        <p:nvSpPr>
          <p:cNvPr id="12" name="TextBox 11"/>
          <p:cNvSpPr txBox="1"/>
          <p:nvPr/>
        </p:nvSpPr>
        <p:spPr>
          <a:xfrm>
            <a:off x="1280160" y="3410712"/>
            <a:ext cx="10180015" cy="1097280"/>
          </a:xfrm>
          <a:prstGeom prst="rect">
            <a:avLst/>
          </a:prstGeom>
          <a:noFill/>
        </p:spPr>
        <p:txBody>
          <a:bodyPr wrap="square">
            <a:spAutoFit/>
          </a:bodyPr>
          <a:lstStyle/>
          <a:p>
            <a:pPr algn="l">
              <a:defRPr sz="1100" b="0">
                <a:solidFill>
                  <a:srgbClr val="415A77"/>
                </a:solidFill>
                <a:latin typeface="Calibri"/>
              </a:defRPr>
            </a:pPr>
            <a:r>
              <a:t>Very few people combine deep fundamental credit analysis with derivatives structuring expertise. Credit analysts find the mispricing but don't know how to express it optimally. Derivatives traders can structure but lack the fundamental insight. I do both -- 28 years building and trading credit portfolios through every major cycle, from Bear Stearns through Bank of America.</a:t>
            </a:r>
          </a:p>
        </p:txBody>
      </p:sp>
      <p:sp>
        <p:nvSpPr>
          <p:cNvPr id="13" name="TextBox 12"/>
          <p:cNvSpPr txBox="1"/>
          <p:nvPr/>
        </p:nvSpPr>
        <p:spPr>
          <a:xfrm>
            <a:off x="731520" y="4754880"/>
            <a:ext cx="457200" cy="365760"/>
          </a:xfrm>
          <a:prstGeom prst="rect">
            <a:avLst/>
          </a:prstGeom>
          <a:noFill/>
        </p:spPr>
        <p:txBody>
          <a:bodyPr wrap="square">
            <a:spAutoFit/>
          </a:bodyPr>
          <a:lstStyle/>
          <a:p>
            <a:pPr algn="l">
              <a:defRPr sz="2800" b="1">
                <a:solidFill>
                  <a:srgbClr val="3B82F6"/>
                </a:solidFill>
                <a:latin typeface="Calibri"/>
              </a:defRPr>
            </a:pPr>
            <a:r>
              <a:t>03</a:t>
            </a:r>
          </a:p>
        </p:txBody>
      </p:sp>
      <p:sp>
        <p:nvSpPr>
          <p:cNvPr id="14" name="TextBox 13"/>
          <p:cNvSpPr txBox="1"/>
          <p:nvPr/>
        </p:nvSpPr>
        <p:spPr>
          <a:xfrm>
            <a:off x="1280160" y="4754880"/>
            <a:ext cx="10180015" cy="320040"/>
          </a:xfrm>
          <a:prstGeom prst="rect">
            <a:avLst/>
          </a:prstGeom>
          <a:noFill/>
        </p:spPr>
        <p:txBody>
          <a:bodyPr wrap="square">
            <a:spAutoFit/>
          </a:bodyPr>
          <a:lstStyle/>
          <a:p>
            <a:pPr algn="l">
              <a:defRPr sz="1400" b="1">
                <a:solidFill>
                  <a:srgbClr val="0D1B2A"/>
                </a:solidFill>
                <a:latin typeface="Calibri"/>
              </a:defRPr>
            </a:pPr>
            <a:r>
              <a:t>AI Augments Experience, Not Replaces It</a:t>
            </a:r>
          </a:p>
        </p:txBody>
      </p:sp>
      <p:sp>
        <p:nvSpPr>
          <p:cNvPr id="15" name="TextBox 14"/>
          <p:cNvSpPr txBox="1"/>
          <p:nvPr/>
        </p:nvSpPr>
        <p:spPr>
          <a:xfrm>
            <a:off x="1280160" y="5102352"/>
            <a:ext cx="10180015" cy="1097280"/>
          </a:xfrm>
          <a:prstGeom prst="rect">
            <a:avLst/>
          </a:prstGeom>
          <a:noFill/>
        </p:spPr>
        <p:txBody>
          <a:bodyPr wrap="square">
            <a:spAutoFit/>
          </a:bodyPr>
          <a:lstStyle/>
          <a:p>
            <a:pPr algn="l">
              <a:defRPr sz="1100" b="0">
                <a:solidFill>
                  <a:srgbClr val="415A77"/>
                </a:solidFill>
                <a:latin typeface="Calibri"/>
              </a:defRPr>
            </a:pPr>
            <a:r>
              <a:t>The platform I've built monitors 200 iTraxx names 24/7 -- scrubbing regulatory filings, analysing management tone, flagging covenant triggers, and screening for relative value. It doesn't replace judgement. It ensures I see every signal, every day, across every name. The LLM qualifies each data point for credit relevance before it reaches 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9144000" cy="457200"/>
          </a:xfrm>
          <a:prstGeom prst="rect">
            <a:avLst/>
          </a:prstGeom>
          <a:noFill/>
        </p:spPr>
        <p:txBody>
          <a:bodyPr wrap="square">
            <a:spAutoFit/>
          </a:bodyPr>
          <a:lstStyle/>
          <a:p>
            <a:pPr algn="l">
              <a:defRPr sz="2400" b="1">
                <a:solidFill>
                  <a:srgbClr val="FFFFFF"/>
                </a:solidFill>
                <a:latin typeface="Calibri"/>
              </a:defRPr>
            </a:pPr>
            <a:r>
              <a:t>THE PROCESS</a:t>
            </a:r>
          </a:p>
        </p:txBody>
      </p:sp>
      <p:sp>
        <p:nvSpPr>
          <p:cNvPr id="4" name="TextBox 3"/>
          <p:cNvSpPr txBox="1"/>
          <p:nvPr/>
        </p:nvSpPr>
        <p:spPr>
          <a:xfrm>
            <a:off x="731520" y="594360"/>
            <a:ext cx="9144000" cy="365760"/>
          </a:xfrm>
          <a:prstGeom prst="rect">
            <a:avLst/>
          </a:prstGeom>
          <a:noFill/>
        </p:spPr>
        <p:txBody>
          <a:bodyPr wrap="square">
            <a:spAutoFit/>
          </a:bodyPr>
          <a:lstStyle/>
          <a:p>
            <a:pPr algn="l">
              <a:defRPr sz="1300" b="0">
                <a:solidFill>
                  <a:srgbClr val="778DA9"/>
                </a:solidFill>
                <a:latin typeface="Calibri"/>
              </a:defRPr>
            </a:pPr>
            <a:r>
              <a:t>Signal  &gt;  Filter  &gt;  Size  &gt;  Execute  &gt;  Manage  &gt;  Exit</a:t>
            </a:r>
          </a:p>
        </p:txBody>
      </p:sp>
      <p:sp>
        <p:nvSpPr>
          <p:cNvPr id="5" name="TextBox 4"/>
          <p:cNvSpPr txBox="1"/>
          <p:nvPr/>
        </p:nvSpPr>
        <p:spPr>
          <a:xfrm>
            <a:off x="9326880" y="228600"/>
            <a:ext cx="2560320" cy="365760"/>
          </a:xfrm>
          <a:prstGeom prst="rect">
            <a:avLst/>
          </a:prstGeom>
          <a:noFill/>
        </p:spPr>
        <p:txBody>
          <a:bodyPr wrap="square">
            <a:spAutoFit/>
          </a:bodyPr>
          <a:lstStyle/>
          <a:p>
            <a:pPr algn="r">
              <a:defRPr sz="1100" b="1">
                <a:solidFill>
                  <a:srgbClr val="3B82F6"/>
                </a:solidFill>
                <a:latin typeface="Calibri"/>
              </a:defRPr>
            </a:pPr>
            <a:r>
              <a:t>MACRO CREDIT MONITOR</a:t>
            </a:r>
          </a:p>
        </p:txBody>
      </p:sp>
      <p:sp>
        <p:nvSpPr>
          <p:cNvPr id="6" name="TextBox 5"/>
          <p:cNvSpPr txBox="1"/>
          <p:nvPr/>
        </p:nvSpPr>
        <p:spPr>
          <a:xfrm>
            <a:off x="731520" y="6400800"/>
            <a:ext cx="9144000" cy="274320"/>
          </a:xfrm>
          <a:prstGeom prst="rect">
            <a:avLst/>
          </a:prstGeom>
          <a:noFill/>
        </p:spPr>
        <p:txBody>
          <a:bodyPr wrap="square">
            <a:spAutoFit/>
          </a:bodyPr>
          <a:lstStyle/>
          <a:p>
            <a:pPr algn="l">
              <a:defRPr sz="800" b="0">
                <a:solidFill>
                  <a:srgbClr val="778DA9"/>
                </a:solidFill>
                <a:latin typeface="Calibri"/>
              </a:defRPr>
            </a:pPr>
            <a:r>
              <a:t>BRUMMER &amp; PARTNERS PITCH  |  CONFIDENTIAL  |  2026-02-26</a:t>
            </a:r>
          </a:p>
        </p:txBody>
      </p:sp>
      <p:sp>
        <p:nvSpPr>
          <p:cNvPr id="7" name="TextBox 6"/>
          <p:cNvSpPr txBox="1"/>
          <p:nvPr/>
        </p:nvSpPr>
        <p:spPr>
          <a:xfrm>
            <a:off x="731520" y="1371600"/>
            <a:ext cx="320040" cy="320040"/>
          </a:xfrm>
          <a:prstGeom prst="rect">
            <a:avLst/>
          </a:prstGeom>
          <a:noFill/>
        </p:spPr>
        <p:txBody>
          <a:bodyPr wrap="square">
            <a:spAutoFit/>
          </a:bodyPr>
          <a:lstStyle/>
          <a:p>
            <a:pPr algn="l">
              <a:defRPr sz="1800" b="1">
                <a:solidFill>
                  <a:srgbClr val="FFFFFF"/>
                </a:solidFill>
                <a:latin typeface="Calibri"/>
              </a:defRPr>
            </a:pPr>
            <a:r>
              <a:t>1</a:t>
            </a:r>
          </a:p>
        </p:txBody>
      </p:sp>
      <p:sp>
        <p:nvSpPr>
          <p:cNvPr id="8" name="Rectangle 7"/>
          <p:cNvSpPr/>
          <p:nvPr/>
        </p:nvSpPr>
        <p:spPr>
          <a:xfrm>
            <a:off x="731520" y="1371600"/>
            <a:ext cx="320040" cy="3200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371600"/>
            <a:ext cx="320040" cy="320040"/>
          </a:xfrm>
          <a:prstGeom prst="rect">
            <a:avLst/>
          </a:prstGeom>
          <a:noFill/>
        </p:spPr>
        <p:txBody>
          <a:bodyPr wrap="square">
            <a:spAutoFit/>
          </a:bodyPr>
          <a:lstStyle/>
          <a:p>
            <a:pPr algn="ctr">
              <a:defRPr sz="1600" b="1">
                <a:solidFill>
                  <a:srgbClr val="FFFFFF"/>
                </a:solidFill>
                <a:latin typeface="Calibri"/>
              </a:defRPr>
            </a:pPr>
            <a:r>
              <a:t>1</a:t>
            </a:r>
          </a:p>
        </p:txBody>
      </p:sp>
      <p:sp>
        <p:nvSpPr>
          <p:cNvPr id="10" name="TextBox 9"/>
          <p:cNvSpPr txBox="1"/>
          <p:nvPr/>
        </p:nvSpPr>
        <p:spPr>
          <a:xfrm>
            <a:off x="1143000" y="1371600"/>
            <a:ext cx="1828800" cy="320040"/>
          </a:xfrm>
          <a:prstGeom prst="rect">
            <a:avLst/>
          </a:prstGeom>
          <a:noFill/>
        </p:spPr>
        <p:txBody>
          <a:bodyPr wrap="square">
            <a:spAutoFit/>
          </a:bodyPr>
          <a:lstStyle/>
          <a:p>
            <a:pPr algn="l">
              <a:defRPr sz="1400" b="1">
                <a:solidFill>
                  <a:srgbClr val="0D1B2A"/>
                </a:solidFill>
                <a:latin typeface="Calibri"/>
              </a:defRPr>
            </a:pPr>
            <a:r>
              <a:t>SIGNAL</a:t>
            </a:r>
          </a:p>
        </p:txBody>
      </p:sp>
      <p:sp>
        <p:nvSpPr>
          <p:cNvPr id="11" name="TextBox 10"/>
          <p:cNvSpPr txBox="1"/>
          <p:nvPr/>
        </p:nvSpPr>
        <p:spPr>
          <a:xfrm>
            <a:off x="731520" y="1783080"/>
            <a:ext cx="3383280" cy="1828800"/>
          </a:xfrm>
          <a:prstGeom prst="rect">
            <a:avLst/>
          </a:prstGeom>
          <a:noFill/>
        </p:spPr>
        <p:txBody>
          <a:bodyPr wrap="square">
            <a:spAutoFit/>
          </a:bodyPr>
          <a:lstStyle/>
          <a:p>
            <a:pPr algn="l">
              <a:defRPr sz="1000" b="0">
                <a:solidFill>
                  <a:srgbClr val="415A77"/>
                </a:solidFill>
                <a:latin typeface="Calibri"/>
              </a:defRPr>
            </a:pPr>
            <a:r>
              <a:t>Monitoring system scans 200 iTraxx names for deterioration: filing anomalies, covenant triggers, earnings misses, rating actions, liquidity stress. 24/7 automated surveillance with LLM-qualified alerts.</a:t>
            </a:r>
          </a:p>
        </p:txBody>
      </p:sp>
      <p:sp>
        <p:nvSpPr>
          <p:cNvPr id="12" name="TextBox 11"/>
          <p:cNvSpPr txBox="1"/>
          <p:nvPr/>
        </p:nvSpPr>
        <p:spPr>
          <a:xfrm>
            <a:off x="4251960" y="1371600"/>
            <a:ext cx="320040" cy="320040"/>
          </a:xfrm>
          <a:prstGeom prst="rect">
            <a:avLst/>
          </a:prstGeom>
          <a:noFill/>
        </p:spPr>
        <p:txBody>
          <a:bodyPr wrap="square">
            <a:spAutoFit/>
          </a:bodyPr>
          <a:lstStyle/>
          <a:p>
            <a:pPr algn="l">
              <a:defRPr sz="1800" b="1">
                <a:solidFill>
                  <a:srgbClr val="FFFFFF"/>
                </a:solidFill>
                <a:latin typeface="Calibri"/>
              </a:defRPr>
            </a:pPr>
            <a:r>
              <a:t>2</a:t>
            </a:r>
          </a:p>
        </p:txBody>
      </p:sp>
      <p:sp>
        <p:nvSpPr>
          <p:cNvPr id="13" name="Rectangle 12"/>
          <p:cNvSpPr/>
          <p:nvPr/>
        </p:nvSpPr>
        <p:spPr>
          <a:xfrm>
            <a:off x="4251960" y="1371600"/>
            <a:ext cx="320040" cy="3200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51960" y="1371600"/>
            <a:ext cx="320040" cy="320040"/>
          </a:xfrm>
          <a:prstGeom prst="rect">
            <a:avLst/>
          </a:prstGeom>
          <a:noFill/>
        </p:spPr>
        <p:txBody>
          <a:bodyPr wrap="square">
            <a:spAutoFit/>
          </a:bodyPr>
          <a:lstStyle/>
          <a:p>
            <a:pPr algn="ctr">
              <a:defRPr sz="1600" b="1">
                <a:solidFill>
                  <a:srgbClr val="FFFFFF"/>
                </a:solidFill>
                <a:latin typeface="Calibri"/>
              </a:defRPr>
            </a:pPr>
            <a:r>
              <a:t>2</a:t>
            </a:r>
          </a:p>
        </p:txBody>
      </p:sp>
      <p:sp>
        <p:nvSpPr>
          <p:cNvPr id="15" name="TextBox 14"/>
          <p:cNvSpPr txBox="1"/>
          <p:nvPr/>
        </p:nvSpPr>
        <p:spPr>
          <a:xfrm>
            <a:off x="4663440" y="1371600"/>
            <a:ext cx="1828800" cy="320040"/>
          </a:xfrm>
          <a:prstGeom prst="rect">
            <a:avLst/>
          </a:prstGeom>
          <a:noFill/>
        </p:spPr>
        <p:txBody>
          <a:bodyPr wrap="square">
            <a:spAutoFit/>
          </a:bodyPr>
          <a:lstStyle/>
          <a:p>
            <a:pPr algn="l">
              <a:defRPr sz="1400" b="1">
                <a:solidFill>
                  <a:srgbClr val="0D1B2A"/>
                </a:solidFill>
                <a:latin typeface="Calibri"/>
              </a:defRPr>
            </a:pPr>
            <a:r>
              <a:t>FILTER</a:t>
            </a:r>
          </a:p>
        </p:txBody>
      </p:sp>
      <p:sp>
        <p:nvSpPr>
          <p:cNvPr id="16" name="TextBox 15"/>
          <p:cNvSpPr txBox="1"/>
          <p:nvPr/>
        </p:nvSpPr>
        <p:spPr>
          <a:xfrm>
            <a:off x="4251960" y="1783080"/>
            <a:ext cx="3383280" cy="1828800"/>
          </a:xfrm>
          <a:prstGeom prst="rect">
            <a:avLst/>
          </a:prstGeom>
          <a:noFill/>
        </p:spPr>
        <p:txBody>
          <a:bodyPr wrap="square">
            <a:spAutoFit/>
          </a:bodyPr>
          <a:lstStyle/>
          <a:p>
            <a:pPr algn="l">
              <a:defRPr sz="1000" b="0">
                <a:solidFill>
                  <a:srgbClr val="415A77"/>
                </a:solidFill>
                <a:latin typeface="Calibri"/>
              </a:defRPr>
            </a:pPr>
            <a:r>
              <a:t>Is this a real catalyst or noise? Documentation engine confirms weak covenant package -- no restricted payments cap, no portability limits. Management comment analysis reveals creditor-hostile tone and behaviour.</a:t>
            </a:r>
          </a:p>
        </p:txBody>
      </p:sp>
      <p:sp>
        <p:nvSpPr>
          <p:cNvPr id="17" name="TextBox 16"/>
          <p:cNvSpPr txBox="1"/>
          <p:nvPr/>
        </p:nvSpPr>
        <p:spPr>
          <a:xfrm>
            <a:off x="7772400" y="1371600"/>
            <a:ext cx="320040" cy="320040"/>
          </a:xfrm>
          <a:prstGeom prst="rect">
            <a:avLst/>
          </a:prstGeom>
          <a:noFill/>
        </p:spPr>
        <p:txBody>
          <a:bodyPr wrap="square">
            <a:spAutoFit/>
          </a:bodyPr>
          <a:lstStyle/>
          <a:p>
            <a:pPr algn="l">
              <a:defRPr sz="1800" b="1">
                <a:solidFill>
                  <a:srgbClr val="FFFFFF"/>
                </a:solidFill>
                <a:latin typeface="Calibri"/>
              </a:defRPr>
            </a:pPr>
            <a:r>
              <a:t>3</a:t>
            </a:r>
          </a:p>
        </p:txBody>
      </p:sp>
      <p:sp>
        <p:nvSpPr>
          <p:cNvPr id="18" name="Rectangle 17"/>
          <p:cNvSpPr/>
          <p:nvPr/>
        </p:nvSpPr>
        <p:spPr>
          <a:xfrm>
            <a:off x="7772400" y="1371600"/>
            <a:ext cx="320040" cy="3200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0" y="1371600"/>
            <a:ext cx="320040" cy="320040"/>
          </a:xfrm>
          <a:prstGeom prst="rect">
            <a:avLst/>
          </a:prstGeom>
          <a:noFill/>
        </p:spPr>
        <p:txBody>
          <a:bodyPr wrap="square">
            <a:spAutoFit/>
          </a:bodyPr>
          <a:lstStyle/>
          <a:p>
            <a:pPr algn="ctr">
              <a:defRPr sz="1600" b="1">
                <a:solidFill>
                  <a:srgbClr val="FFFFFF"/>
                </a:solidFill>
                <a:latin typeface="Calibri"/>
              </a:defRPr>
            </a:pPr>
            <a:r>
              <a:t>3</a:t>
            </a:r>
          </a:p>
        </p:txBody>
      </p:sp>
      <p:sp>
        <p:nvSpPr>
          <p:cNvPr id="20" name="TextBox 19"/>
          <p:cNvSpPr txBox="1"/>
          <p:nvPr/>
        </p:nvSpPr>
        <p:spPr>
          <a:xfrm>
            <a:off x="8183880" y="1371600"/>
            <a:ext cx="1828800" cy="320040"/>
          </a:xfrm>
          <a:prstGeom prst="rect">
            <a:avLst/>
          </a:prstGeom>
          <a:noFill/>
        </p:spPr>
        <p:txBody>
          <a:bodyPr wrap="square">
            <a:spAutoFit/>
          </a:bodyPr>
          <a:lstStyle/>
          <a:p>
            <a:pPr algn="l">
              <a:defRPr sz="1400" b="1">
                <a:solidFill>
                  <a:srgbClr val="0D1B2A"/>
                </a:solidFill>
                <a:latin typeface="Calibri"/>
              </a:defRPr>
            </a:pPr>
            <a:r>
              <a:t>SIZE</a:t>
            </a:r>
          </a:p>
        </p:txBody>
      </p:sp>
      <p:sp>
        <p:nvSpPr>
          <p:cNvPr id="21" name="TextBox 20"/>
          <p:cNvSpPr txBox="1"/>
          <p:nvPr/>
        </p:nvSpPr>
        <p:spPr>
          <a:xfrm>
            <a:off x="7772400" y="1783080"/>
            <a:ext cx="3383280" cy="1828800"/>
          </a:xfrm>
          <a:prstGeom prst="rect">
            <a:avLst/>
          </a:prstGeom>
          <a:noFill/>
        </p:spPr>
        <p:txBody>
          <a:bodyPr wrap="square">
            <a:spAutoFit/>
          </a:bodyPr>
          <a:lstStyle/>
          <a:p>
            <a:pPr algn="l">
              <a:defRPr sz="1000" b="0">
                <a:solidFill>
                  <a:srgbClr val="415A77"/>
                </a:solidFill>
                <a:latin typeface="Calibri"/>
              </a:defRPr>
            </a:pPr>
            <a:r>
              <a:t>Regime-aware CS01 budgeting. CS01 of ~$16,500/bp on a $250m book is ~2% of risk budget. Aggressive in high-conviction / low-correlation. Defensive when correlation rising.</a:t>
            </a:r>
          </a:p>
        </p:txBody>
      </p:sp>
      <p:sp>
        <p:nvSpPr>
          <p:cNvPr id="22" name="TextBox 21"/>
          <p:cNvSpPr txBox="1"/>
          <p:nvPr/>
        </p:nvSpPr>
        <p:spPr>
          <a:xfrm>
            <a:off x="731520" y="3931920"/>
            <a:ext cx="320040" cy="320040"/>
          </a:xfrm>
          <a:prstGeom prst="rect">
            <a:avLst/>
          </a:prstGeom>
          <a:noFill/>
        </p:spPr>
        <p:txBody>
          <a:bodyPr wrap="square">
            <a:spAutoFit/>
          </a:bodyPr>
          <a:lstStyle/>
          <a:p>
            <a:pPr algn="l">
              <a:defRPr sz="1800" b="1">
                <a:solidFill>
                  <a:srgbClr val="FFFFFF"/>
                </a:solidFill>
                <a:latin typeface="Calibri"/>
              </a:defRPr>
            </a:pPr>
            <a:r>
              <a:t>4</a:t>
            </a:r>
          </a:p>
        </p:txBody>
      </p:sp>
      <p:sp>
        <p:nvSpPr>
          <p:cNvPr id="23" name="Rectangle 22"/>
          <p:cNvSpPr/>
          <p:nvPr/>
        </p:nvSpPr>
        <p:spPr>
          <a:xfrm>
            <a:off x="731520" y="3931920"/>
            <a:ext cx="320040" cy="3200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3931920"/>
            <a:ext cx="320040" cy="320040"/>
          </a:xfrm>
          <a:prstGeom prst="rect">
            <a:avLst/>
          </a:prstGeom>
          <a:noFill/>
        </p:spPr>
        <p:txBody>
          <a:bodyPr wrap="square">
            <a:spAutoFit/>
          </a:bodyPr>
          <a:lstStyle/>
          <a:p>
            <a:pPr algn="ctr">
              <a:defRPr sz="1600" b="1">
                <a:solidFill>
                  <a:srgbClr val="FFFFFF"/>
                </a:solidFill>
                <a:latin typeface="Calibri"/>
              </a:defRPr>
            </a:pPr>
            <a:r>
              <a:t>4</a:t>
            </a:r>
          </a:p>
        </p:txBody>
      </p:sp>
      <p:sp>
        <p:nvSpPr>
          <p:cNvPr id="25" name="TextBox 24"/>
          <p:cNvSpPr txBox="1"/>
          <p:nvPr/>
        </p:nvSpPr>
        <p:spPr>
          <a:xfrm>
            <a:off x="1143000" y="3931920"/>
            <a:ext cx="1828800" cy="320040"/>
          </a:xfrm>
          <a:prstGeom prst="rect">
            <a:avLst/>
          </a:prstGeom>
          <a:noFill/>
        </p:spPr>
        <p:txBody>
          <a:bodyPr wrap="square">
            <a:spAutoFit/>
          </a:bodyPr>
          <a:lstStyle/>
          <a:p>
            <a:pPr algn="l">
              <a:defRPr sz="1400" b="1">
                <a:solidFill>
                  <a:srgbClr val="0D1B2A"/>
                </a:solidFill>
                <a:latin typeface="Calibri"/>
              </a:defRPr>
            </a:pPr>
            <a:r>
              <a:t>EXECUTE</a:t>
            </a:r>
          </a:p>
        </p:txBody>
      </p:sp>
      <p:sp>
        <p:nvSpPr>
          <p:cNvPr id="26" name="TextBox 25"/>
          <p:cNvSpPr txBox="1"/>
          <p:nvPr/>
        </p:nvSpPr>
        <p:spPr>
          <a:xfrm>
            <a:off x="731520" y="4343400"/>
            <a:ext cx="3383280" cy="1828800"/>
          </a:xfrm>
          <a:prstGeom prst="rect">
            <a:avLst/>
          </a:prstGeom>
          <a:noFill/>
        </p:spPr>
        <p:txBody>
          <a:bodyPr wrap="square">
            <a:spAutoFit/>
          </a:bodyPr>
          <a:lstStyle/>
          <a:p>
            <a:pPr algn="l">
              <a:defRPr sz="1000" b="0">
                <a:solidFill>
                  <a:srgbClr val="415A77"/>
                </a:solidFill>
                <a:latin typeface="Calibri"/>
              </a:defRPr>
            </a:pPr>
            <a:r>
              <a:t>Choose instrument: single-name CDS, cash bonds, basis trades, index tranches. Selection based on liquidity, carry profile, asymmetry, and documentation risk.</a:t>
            </a:r>
          </a:p>
        </p:txBody>
      </p:sp>
      <p:sp>
        <p:nvSpPr>
          <p:cNvPr id="27" name="TextBox 26"/>
          <p:cNvSpPr txBox="1"/>
          <p:nvPr/>
        </p:nvSpPr>
        <p:spPr>
          <a:xfrm>
            <a:off x="4251960" y="3931920"/>
            <a:ext cx="320040" cy="320040"/>
          </a:xfrm>
          <a:prstGeom prst="rect">
            <a:avLst/>
          </a:prstGeom>
          <a:noFill/>
        </p:spPr>
        <p:txBody>
          <a:bodyPr wrap="square">
            <a:spAutoFit/>
          </a:bodyPr>
          <a:lstStyle/>
          <a:p>
            <a:pPr algn="l">
              <a:defRPr sz="1800" b="1">
                <a:solidFill>
                  <a:srgbClr val="FFFFFF"/>
                </a:solidFill>
                <a:latin typeface="Calibri"/>
              </a:defRPr>
            </a:pPr>
            <a:r>
              <a:t>5</a:t>
            </a:r>
          </a:p>
        </p:txBody>
      </p:sp>
      <p:sp>
        <p:nvSpPr>
          <p:cNvPr id="28" name="Rectangle 27"/>
          <p:cNvSpPr/>
          <p:nvPr/>
        </p:nvSpPr>
        <p:spPr>
          <a:xfrm>
            <a:off x="4251960" y="3931920"/>
            <a:ext cx="320040" cy="3200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51960" y="3931920"/>
            <a:ext cx="320040" cy="320040"/>
          </a:xfrm>
          <a:prstGeom prst="rect">
            <a:avLst/>
          </a:prstGeom>
          <a:noFill/>
        </p:spPr>
        <p:txBody>
          <a:bodyPr wrap="square">
            <a:spAutoFit/>
          </a:bodyPr>
          <a:lstStyle/>
          <a:p>
            <a:pPr algn="ctr">
              <a:defRPr sz="1600" b="1">
                <a:solidFill>
                  <a:srgbClr val="FFFFFF"/>
                </a:solidFill>
                <a:latin typeface="Calibri"/>
              </a:defRPr>
            </a:pPr>
            <a:r>
              <a:t>5</a:t>
            </a:r>
          </a:p>
        </p:txBody>
      </p:sp>
      <p:sp>
        <p:nvSpPr>
          <p:cNvPr id="30" name="TextBox 29"/>
          <p:cNvSpPr txBox="1"/>
          <p:nvPr/>
        </p:nvSpPr>
        <p:spPr>
          <a:xfrm>
            <a:off x="4663440" y="3931920"/>
            <a:ext cx="1828800" cy="320040"/>
          </a:xfrm>
          <a:prstGeom prst="rect">
            <a:avLst/>
          </a:prstGeom>
          <a:noFill/>
        </p:spPr>
        <p:txBody>
          <a:bodyPr wrap="square">
            <a:spAutoFit/>
          </a:bodyPr>
          <a:lstStyle/>
          <a:p>
            <a:pPr algn="l">
              <a:defRPr sz="1400" b="1">
                <a:solidFill>
                  <a:srgbClr val="0D1B2A"/>
                </a:solidFill>
                <a:latin typeface="Calibri"/>
              </a:defRPr>
            </a:pPr>
            <a:r>
              <a:t>MANAGE</a:t>
            </a:r>
          </a:p>
        </p:txBody>
      </p:sp>
      <p:sp>
        <p:nvSpPr>
          <p:cNvPr id="31" name="TextBox 30"/>
          <p:cNvSpPr txBox="1"/>
          <p:nvPr/>
        </p:nvSpPr>
        <p:spPr>
          <a:xfrm>
            <a:off x="4251960" y="4343400"/>
            <a:ext cx="3383280" cy="1828800"/>
          </a:xfrm>
          <a:prstGeom prst="rect">
            <a:avLst/>
          </a:prstGeom>
          <a:noFill/>
        </p:spPr>
        <p:txBody>
          <a:bodyPr wrap="square">
            <a:spAutoFit/>
          </a:bodyPr>
          <a:lstStyle/>
          <a:p>
            <a:pPr algn="l">
              <a:defRPr sz="1000" b="0">
                <a:solidFill>
                  <a:srgbClr val="415A77"/>
                </a:solidFill>
                <a:latin typeface="Calibri"/>
              </a:defRPr>
            </a:pPr>
            <a:r>
              <a:t>Daily P&amp;L attribution, scenario stress across 8 macro environments, correlation monitoring, basis tracking. Equity implied vol as early warning. Actively adjust hedges as thesis plays out.</a:t>
            </a:r>
          </a:p>
        </p:txBody>
      </p:sp>
      <p:sp>
        <p:nvSpPr>
          <p:cNvPr id="32" name="TextBox 31"/>
          <p:cNvSpPr txBox="1"/>
          <p:nvPr/>
        </p:nvSpPr>
        <p:spPr>
          <a:xfrm>
            <a:off x="7772400" y="3931920"/>
            <a:ext cx="320040" cy="320040"/>
          </a:xfrm>
          <a:prstGeom prst="rect">
            <a:avLst/>
          </a:prstGeom>
          <a:noFill/>
        </p:spPr>
        <p:txBody>
          <a:bodyPr wrap="square">
            <a:spAutoFit/>
          </a:bodyPr>
          <a:lstStyle/>
          <a:p>
            <a:pPr algn="l">
              <a:defRPr sz="1800" b="1">
                <a:solidFill>
                  <a:srgbClr val="FFFFFF"/>
                </a:solidFill>
                <a:latin typeface="Calibri"/>
              </a:defRPr>
            </a:pPr>
            <a:r>
              <a:t>6</a:t>
            </a:r>
          </a:p>
        </p:txBody>
      </p:sp>
      <p:sp>
        <p:nvSpPr>
          <p:cNvPr id="33" name="Rectangle 32"/>
          <p:cNvSpPr/>
          <p:nvPr/>
        </p:nvSpPr>
        <p:spPr>
          <a:xfrm>
            <a:off x="7772400" y="3931920"/>
            <a:ext cx="320040" cy="3200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772400" y="3931920"/>
            <a:ext cx="320040" cy="320040"/>
          </a:xfrm>
          <a:prstGeom prst="rect">
            <a:avLst/>
          </a:prstGeom>
          <a:noFill/>
        </p:spPr>
        <p:txBody>
          <a:bodyPr wrap="square">
            <a:spAutoFit/>
          </a:bodyPr>
          <a:lstStyle/>
          <a:p>
            <a:pPr algn="ctr">
              <a:defRPr sz="1600" b="1">
                <a:solidFill>
                  <a:srgbClr val="FFFFFF"/>
                </a:solidFill>
                <a:latin typeface="Calibri"/>
              </a:defRPr>
            </a:pPr>
            <a:r>
              <a:t>6</a:t>
            </a:r>
          </a:p>
        </p:txBody>
      </p:sp>
      <p:sp>
        <p:nvSpPr>
          <p:cNvPr id="35" name="TextBox 34"/>
          <p:cNvSpPr txBox="1"/>
          <p:nvPr/>
        </p:nvSpPr>
        <p:spPr>
          <a:xfrm>
            <a:off x="8183880" y="3931920"/>
            <a:ext cx="1828800" cy="320040"/>
          </a:xfrm>
          <a:prstGeom prst="rect">
            <a:avLst/>
          </a:prstGeom>
          <a:noFill/>
        </p:spPr>
        <p:txBody>
          <a:bodyPr wrap="square">
            <a:spAutoFit/>
          </a:bodyPr>
          <a:lstStyle/>
          <a:p>
            <a:pPr algn="l">
              <a:defRPr sz="1400" b="1">
                <a:solidFill>
                  <a:srgbClr val="0D1B2A"/>
                </a:solidFill>
                <a:latin typeface="Calibri"/>
              </a:defRPr>
            </a:pPr>
            <a:r>
              <a:t>EXIT</a:t>
            </a:r>
          </a:p>
        </p:txBody>
      </p:sp>
      <p:sp>
        <p:nvSpPr>
          <p:cNvPr id="36" name="TextBox 35"/>
          <p:cNvSpPr txBox="1"/>
          <p:nvPr/>
        </p:nvSpPr>
        <p:spPr>
          <a:xfrm>
            <a:off x="7772400" y="4343400"/>
            <a:ext cx="3383280" cy="1828800"/>
          </a:xfrm>
          <a:prstGeom prst="rect">
            <a:avLst/>
          </a:prstGeom>
          <a:noFill/>
        </p:spPr>
        <p:txBody>
          <a:bodyPr wrap="square">
            <a:spAutoFit/>
          </a:bodyPr>
          <a:lstStyle/>
          <a:p>
            <a:pPr algn="l">
              <a:defRPr sz="1000" b="0">
                <a:solidFill>
                  <a:srgbClr val="415A77"/>
                </a:solidFill>
                <a:latin typeface="Calibri"/>
              </a:defRPr>
            </a:pPr>
            <a:r>
              <a:t>Pre-defined targets and stops from day one. Example: CDS widens to 550bps on downgrade -- 200bp x $16.5k CS01 = $3.3m P&amp;L plus convexity. Thesis realised -- close and redeploy.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731520" y="2560320"/>
            <a:ext cx="10728655" cy="914400"/>
          </a:xfrm>
          <a:prstGeom prst="rect">
            <a:avLst/>
          </a:prstGeom>
          <a:noFill/>
        </p:spPr>
        <p:txBody>
          <a:bodyPr wrap="square">
            <a:spAutoFit/>
          </a:bodyPr>
          <a:lstStyle/>
          <a:p>
            <a:pPr algn="l">
              <a:defRPr sz="3600" b="1">
                <a:solidFill>
                  <a:srgbClr val="FFFFFF"/>
                </a:solidFill>
                <a:latin typeface="Calibri"/>
              </a:defRPr>
            </a:pPr>
            <a:r>
              <a:t>AI-AUGMENTED PLATFORM</a:t>
            </a:r>
          </a:p>
        </p:txBody>
      </p:sp>
      <p:sp>
        <p:nvSpPr>
          <p:cNvPr id="3" name="TextBox 2"/>
          <p:cNvSpPr txBox="1"/>
          <p:nvPr/>
        </p:nvSpPr>
        <p:spPr>
          <a:xfrm>
            <a:off x="731520" y="3474720"/>
            <a:ext cx="10728655" cy="548640"/>
          </a:xfrm>
          <a:prstGeom prst="rect">
            <a:avLst/>
          </a:prstGeom>
          <a:noFill/>
        </p:spPr>
        <p:txBody>
          <a:bodyPr wrap="square">
            <a:spAutoFit/>
          </a:bodyPr>
          <a:lstStyle/>
          <a:p>
            <a:pPr algn="l">
              <a:defRPr sz="1600" b="0">
                <a:solidFill>
                  <a:srgbClr val="778DA9"/>
                </a:solidFill>
                <a:latin typeface="Calibri"/>
              </a:defRPr>
            </a:pPr>
            <a:r>
              <a:t>How technology scales 28 years of experience across 200 names</a:t>
            </a:r>
          </a:p>
        </p:txBody>
      </p:sp>
      <p:sp>
        <p:nvSpPr>
          <p:cNvPr id="4" name="TextBox 3"/>
          <p:cNvSpPr txBox="1"/>
          <p:nvPr/>
        </p:nvSpPr>
        <p:spPr>
          <a:xfrm>
            <a:off x="731520" y="6400800"/>
            <a:ext cx="9144000" cy="274320"/>
          </a:xfrm>
          <a:prstGeom prst="rect">
            <a:avLst/>
          </a:prstGeom>
          <a:noFill/>
        </p:spPr>
        <p:txBody>
          <a:bodyPr wrap="square">
            <a:spAutoFit/>
          </a:bodyPr>
          <a:lstStyle/>
          <a:p>
            <a:pPr algn="l">
              <a:defRPr sz="800" b="0">
                <a:solidFill>
                  <a:srgbClr val="415A77"/>
                </a:solidFill>
                <a:latin typeface="Calibri"/>
              </a:defRPr>
            </a:pPr>
            <a:r>
              <a:t>BRUMMER &amp; PARTNERS PITCH  |  CONFIDENTIAL  |  2026-02-26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9144000" cy="457200"/>
          </a:xfrm>
          <a:prstGeom prst="rect">
            <a:avLst/>
          </a:prstGeom>
          <a:noFill/>
        </p:spPr>
        <p:txBody>
          <a:bodyPr wrap="square">
            <a:spAutoFit/>
          </a:bodyPr>
          <a:lstStyle/>
          <a:p>
            <a:pPr algn="l">
              <a:defRPr sz="2400" b="1">
                <a:solidFill>
                  <a:srgbClr val="FFFFFF"/>
                </a:solidFill>
                <a:latin typeface="Calibri"/>
              </a:defRPr>
            </a:pPr>
            <a:r>
              <a:t>AI-AUGMENTED PLATFORM</a:t>
            </a:r>
          </a:p>
        </p:txBody>
      </p:sp>
      <p:sp>
        <p:nvSpPr>
          <p:cNvPr id="4" name="TextBox 3"/>
          <p:cNvSpPr txBox="1"/>
          <p:nvPr/>
        </p:nvSpPr>
        <p:spPr>
          <a:xfrm>
            <a:off x="731520" y="594360"/>
            <a:ext cx="9144000" cy="365760"/>
          </a:xfrm>
          <a:prstGeom prst="rect">
            <a:avLst/>
          </a:prstGeom>
          <a:noFill/>
        </p:spPr>
        <p:txBody>
          <a:bodyPr wrap="square">
            <a:spAutoFit/>
          </a:bodyPr>
          <a:lstStyle/>
          <a:p>
            <a:pPr algn="l">
              <a:defRPr sz="1300" b="0">
                <a:solidFill>
                  <a:srgbClr val="778DA9"/>
                </a:solidFill>
                <a:latin typeface="Calibri"/>
              </a:defRPr>
            </a:pPr>
            <a:r>
              <a:t>How AI scales my process across 200 names, 24 hours a day</a:t>
            </a:r>
          </a:p>
        </p:txBody>
      </p:sp>
      <p:sp>
        <p:nvSpPr>
          <p:cNvPr id="5" name="TextBox 4"/>
          <p:cNvSpPr txBox="1"/>
          <p:nvPr/>
        </p:nvSpPr>
        <p:spPr>
          <a:xfrm>
            <a:off x="9326880" y="228600"/>
            <a:ext cx="2560320" cy="365760"/>
          </a:xfrm>
          <a:prstGeom prst="rect">
            <a:avLst/>
          </a:prstGeom>
          <a:noFill/>
        </p:spPr>
        <p:txBody>
          <a:bodyPr wrap="square">
            <a:spAutoFit/>
          </a:bodyPr>
          <a:lstStyle/>
          <a:p>
            <a:pPr algn="r">
              <a:defRPr sz="1100" b="1">
                <a:solidFill>
                  <a:srgbClr val="3B82F6"/>
                </a:solidFill>
                <a:latin typeface="Calibri"/>
              </a:defRPr>
            </a:pPr>
            <a:r>
              <a:t>MACRO CREDIT MONITOR</a:t>
            </a:r>
          </a:p>
        </p:txBody>
      </p:sp>
      <p:sp>
        <p:nvSpPr>
          <p:cNvPr id="6" name="TextBox 5"/>
          <p:cNvSpPr txBox="1"/>
          <p:nvPr/>
        </p:nvSpPr>
        <p:spPr>
          <a:xfrm>
            <a:off x="731520" y="6400800"/>
            <a:ext cx="9144000" cy="274320"/>
          </a:xfrm>
          <a:prstGeom prst="rect">
            <a:avLst/>
          </a:prstGeom>
          <a:noFill/>
        </p:spPr>
        <p:txBody>
          <a:bodyPr wrap="square">
            <a:spAutoFit/>
          </a:bodyPr>
          <a:lstStyle/>
          <a:p>
            <a:pPr algn="l">
              <a:defRPr sz="800" b="0">
                <a:solidFill>
                  <a:srgbClr val="778DA9"/>
                </a:solidFill>
                <a:latin typeface="Calibri"/>
              </a:defRPr>
            </a:pPr>
            <a:r>
              <a:t>BRUMMER &amp; PARTNERS PITCH  |  CONFIDENTIAL  |  2026-02-26</a:t>
            </a:r>
          </a:p>
        </p:txBody>
      </p:sp>
      <p:sp>
        <p:nvSpPr>
          <p:cNvPr id="7" name="TextBox 6"/>
          <p:cNvSpPr txBox="1"/>
          <p:nvPr/>
        </p:nvSpPr>
        <p:spPr>
          <a:xfrm>
            <a:off x="731520" y="1371600"/>
            <a:ext cx="457200" cy="365760"/>
          </a:xfrm>
          <a:prstGeom prst="rect">
            <a:avLst/>
          </a:prstGeom>
          <a:noFill/>
        </p:spPr>
        <p:txBody>
          <a:bodyPr wrap="square">
            <a:spAutoFit/>
          </a:bodyPr>
          <a:lstStyle/>
          <a:p>
            <a:pPr algn="l">
              <a:defRPr sz="2800" b="1">
                <a:solidFill>
                  <a:srgbClr val="3B82F6"/>
                </a:solidFill>
                <a:latin typeface="Calibri"/>
              </a:defRPr>
            </a:pPr>
            <a:r>
              <a:t>01</a:t>
            </a:r>
          </a:p>
        </p:txBody>
      </p:sp>
      <p:sp>
        <p:nvSpPr>
          <p:cNvPr id="8" name="TextBox 7"/>
          <p:cNvSpPr txBox="1"/>
          <p:nvPr/>
        </p:nvSpPr>
        <p:spPr>
          <a:xfrm>
            <a:off x="1280160" y="1371600"/>
            <a:ext cx="4389120" cy="320040"/>
          </a:xfrm>
          <a:prstGeom prst="rect">
            <a:avLst/>
          </a:prstGeom>
          <a:noFill/>
        </p:spPr>
        <p:txBody>
          <a:bodyPr wrap="square">
            <a:spAutoFit/>
          </a:bodyPr>
          <a:lstStyle/>
          <a:p>
            <a:pPr algn="l">
              <a:defRPr sz="1400" b="1">
                <a:solidFill>
                  <a:srgbClr val="0D1B2A"/>
                </a:solidFill>
                <a:latin typeface="Calibri"/>
              </a:defRPr>
            </a:pPr>
            <a:r>
              <a:t>Regulatory Filing Surveillance</a:t>
            </a:r>
          </a:p>
        </p:txBody>
      </p:sp>
      <p:sp>
        <p:nvSpPr>
          <p:cNvPr id="9" name="TextBox 8"/>
          <p:cNvSpPr txBox="1"/>
          <p:nvPr/>
        </p:nvSpPr>
        <p:spPr>
          <a:xfrm>
            <a:off x="1280160" y="1719072"/>
            <a:ext cx="4389120" cy="1097280"/>
          </a:xfrm>
          <a:prstGeom prst="rect">
            <a:avLst/>
          </a:prstGeom>
          <a:noFill/>
        </p:spPr>
        <p:txBody>
          <a:bodyPr wrap="square">
            <a:spAutoFit/>
          </a:bodyPr>
          <a:lstStyle/>
          <a:p>
            <a:pPr algn="l">
              <a:defRPr sz="1100" b="0">
                <a:solidFill>
                  <a:srgbClr val="415A77"/>
                </a:solidFill>
                <a:latin typeface="Calibri"/>
              </a:defRPr>
            </a:pPr>
            <a:r>
              <a:t>Monitors 4 European sources in real-time: Companies House (UK), Investegate/RNS (UK), EQS News/DGAP (Germany), and AMF (France). Every filing is automatically classified by the LLM for credit impact and severity (1-5). Only material signals reach me -- noise is filtered before I see it. SEC EDGAR covered for the 14 US-listed names.</a:t>
            </a:r>
          </a:p>
        </p:txBody>
      </p:sp>
      <p:sp>
        <p:nvSpPr>
          <p:cNvPr id="10" name="TextBox 9"/>
          <p:cNvSpPr txBox="1"/>
          <p:nvPr/>
        </p:nvSpPr>
        <p:spPr>
          <a:xfrm>
            <a:off x="6126480" y="1371600"/>
            <a:ext cx="457200" cy="365760"/>
          </a:xfrm>
          <a:prstGeom prst="rect">
            <a:avLst/>
          </a:prstGeom>
          <a:noFill/>
        </p:spPr>
        <p:txBody>
          <a:bodyPr wrap="square">
            <a:spAutoFit/>
          </a:bodyPr>
          <a:lstStyle/>
          <a:p>
            <a:pPr algn="l">
              <a:defRPr sz="2800" b="1">
                <a:solidFill>
                  <a:srgbClr val="3B82F6"/>
                </a:solidFill>
                <a:latin typeface="Calibri"/>
              </a:defRPr>
            </a:pPr>
            <a:r>
              <a:t>02</a:t>
            </a:r>
          </a:p>
        </p:txBody>
      </p:sp>
      <p:sp>
        <p:nvSpPr>
          <p:cNvPr id="11" name="TextBox 10"/>
          <p:cNvSpPr txBox="1"/>
          <p:nvPr/>
        </p:nvSpPr>
        <p:spPr>
          <a:xfrm>
            <a:off x="6675120" y="1371600"/>
            <a:ext cx="4389120" cy="320040"/>
          </a:xfrm>
          <a:prstGeom prst="rect">
            <a:avLst/>
          </a:prstGeom>
          <a:noFill/>
        </p:spPr>
        <p:txBody>
          <a:bodyPr wrap="square">
            <a:spAutoFit/>
          </a:bodyPr>
          <a:lstStyle/>
          <a:p>
            <a:pPr algn="l">
              <a:defRPr sz="1400" b="1">
                <a:solidFill>
                  <a:srgbClr val="0D1B2A"/>
                </a:solidFill>
                <a:latin typeface="Calibri"/>
              </a:defRPr>
            </a:pPr>
            <a:r>
              <a:t>Forensic Credit Analysis</a:t>
            </a:r>
          </a:p>
        </p:txBody>
      </p:sp>
      <p:sp>
        <p:nvSpPr>
          <p:cNvPr id="12" name="TextBox 11"/>
          <p:cNvSpPr txBox="1"/>
          <p:nvPr/>
        </p:nvSpPr>
        <p:spPr>
          <a:xfrm>
            <a:off x="6675120" y="1719072"/>
            <a:ext cx="4389120" cy="1097280"/>
          </a:xfrm>
          <a:prstGeom prst="rect">
            <a:avLst/>
          </a:prstGeom>
          <a:noFill/>
        </p:spPr>
        <p:txBody>
          <a:bodyPr wrap="square">
            <a:spAutoFit/>
          </a:bodyPr>
          <a:lstStyle/>
          <a:p>
            <a:pPr algn="l">
              <a:defRPr sz="1100" b="0">
                <a:solidFill>
                  <a:srgbClr val="415A77"/>
                </a:solidFill>
                <a:latin typeface="Calibri"/>
              </a:defRPr>
            </a:pPr>
            <a:r>
              <a:t>Standard credit analysis -- leverage trends, interest coverage erosion, cash burn trajectories, maturity walls -- but with an AI layer that forensically scrutinises results. The LLM reads earnings transcripts, identifies hedging language in management comments, detects tone shifts between quarters, and flags inconsistencies between reported numbers and management narrative.</a:t>
            </a:r>
          </a:p>
        </p:txBody>
      </p:sp>
      <p:sp>
        <p:nvSpPr>
          <p:cNvPr id="13" name="TextBox 12"/>
          <p:cNvSpPr txBox="1"/>
          <p:nvPr/>
        </p:nvSpPr>
        <p:spPr>
          <a:xfrm>
            <a:off x="731520" y="3840480"/>
            <a:ext cx="457200" cy="365760"/>
          </a:xfrm>
          <a:prstGeom prst="rect">
            <a:avLst/>
          </a:prstGeom>
          <a:noFill/>
        </p:spPr>
        <p:txBody>
          <a:bodyPr wrap="square">
            <a:spAutoFit/>
          </a:bodyPr>
          <a:lstStyle/>
          <a:p>
            <a:pPr algn="l">
              <a:defRPr sz="2800" b="1">
                <a:solidFill>
                  <a:srgbClr val="3B82F6"/>
                </a:solidFill>
                <a:latin typeface="Calibri"/>
              </a:defRPr>
            </a:pPr>
            <a:r>
              <a:t>03</a:t>
            </a:r>
          </a:p>
        </p:txBody>
      </p:sp>
      <p:sp>
        <p:nvSpPr>
          <p:cNvPr id="14" name="TextBox 13"/>
          <p:cNvSpPr txBox="1"/>
          <p:nvPr/>
        </p:nvSpPr>
        <p:spPr>
          <a:xfrm>
            <a:off x="1280160" y="3840480"/>
            <a:ext cx="4389120" cy="320040"/>
          </a:xfrm>
          <a:prstGeom prst="rect">
            <a:avLst/>
          </a:prstGeom>
          <a:noFill/>
        </p:spPr>
        <p:txBody>
          <a:bodyPr wrap="square">
            <a:spAutoFit/>
          </a:bodyPr>
          <a:lstStyle/>
          <a:p>
            <a:pPr algn="l">
              <a:defRPr sz="1400" b="1">
                <a:solidFill>
                  <a:srgbClr val="0D1B2A"/>
                </a:solidFill>
                <a:latin typeface="Calibri"/>
              </a:defRPr>
            </a:pPr>
            <a:r>
              <a:t>24-Hour News &amp; Sentiment Lookout</a:t>
            </a:r>
          </a:p>
        </p:txBody>
      </p:sp>
      <p:sp>
        <p:nvSpPr>
          <p:cNvPr id="15" name="TextBox 14"/>
          <p:cNvSpPr txBox="1"/>
          <p:nvPr/>
        </p:nvSpPr>
        <p:spPr>
          <a:xfrm>
            <a:off x="1280160" y="4187952"/>
            <a:ext cx="4389120" cy="1097280"/>
          </a:xfrm>
          <a:prstGeom prst="rect">
            <a:avLst/>
          </a:prstGeom>
          <a:noFill/>
        </p:spPr>
        <p:txBody>
          <a:bodyPr wrap="square">
            <a:spAutoFit/>
          </a:bodyPr>
          <a:lstStyle/>
          <a:p>
            <a:pPr algn="l">
              <a:defRPr sz="1100" b="0">
                <a:solidFill>
                  <a:srgbClr val="415A77"/>
                </a:solidFill>
                <a:latin typeface="Calibri"/>
              </a:defRPr>
            </a:pPr>
            <a:r>
              <a:t>Continuous monitoring of news flow, social sentiment, and market signals across the full iTraxx universe. The system correlates news events with spread movements and alerts when a name is moving on news that hasn't been priced into the CDS or bond market. Telegram alerts for immediate notification.</a:t>
            </a:r>
          </a:p>
        </p:txBody>
      </p:sp>
      <p:sp>
        <p:nvSpPr>
          <p:cNvPr id="16" name="TextBox 15"/>
          <p:cNvSpPr txBox="1"/>
          <p:nvPr/>
        </p:nvSpPr>
        <p:spPr>
          <a:xfrm>
            <a:off x="6126480" y="3840480"/>
            <a:ext cx="457200" cy="365760"/>
          </a:xfrm>
          <a:prstGeom prst="rect">
            <a:avLst/>
          </a:prstGeom>
          <a:noFill/>
        </p:spPr>
        <p:txBody>
          <a:bodyPr wrap="square">
            <a:spAutoFit/>
          </a:bodyPr>
          <a:lstStyle/>
          <a:p>
            <a:pPr algn="l">
              <a:defRPr sz="2800" b="1">
                <a:solidFill>
                  <a:srgbClr val="3B82F6"/>
                </a:solidFill>
                <a:latin typeface="Calibri"/>
              </a:defRPr>
            </a:pPr>
            <a:r>
              <a:t>04</a:t>
            </a:r>
          </a:p>
        </p:txBody>
      </p:sp>
      <p:sp>
        <p:nvSpPr>
          <p:cNvPr id="17" name="TextBox 16"/>
          <p:cNvSpPr txBox="1"/>
          <p:nvPr/>
        </p:nvSpPr>
        <p:spPr>
          <a:xfrm>
            <a:off x="6675120" y="3840480"/>
            <a:ext cx="4389120" cy="320040"/>
          </a:xfrm>
          <a:prstGeom prst="rect">
            <a:avLst/>
          </a:prstGeom>
          <a:noFill/>
        </p:spPr>
        <p:txBody>
          <a:bodyPr wrap="square">
            <a:spAutoFit/>
          </a:bodyPr>
          <a:lstStyle/>
          <a:p>
            <a:pPr algn="l">
              <a:defRPr sz="1400" b="1">
                <a:solidFill>
                  <a:srgbClr val="0D1B2A"/>
                </a:solidFill>
                <a:latin typeface="Calibri"/>
              </a:defRPr>
            </a:pPr>
            <a:r>
              <a:t>Documentation &amp; Covenant Engine</a:t>
            </a:r>
          </a:p>
        </p:txBody>
      </p:sp>
      <p:sp>
        <p:nvSpPr>
          <p:cNvPr id="18" name="TextBox 17"/>
          <p:cNvSpPr txBox="1"/>
          <p:nvPr/>
        </p:nvSpPr>
        <p:spPr>
          <a:xfrm>
            <a:off x="6675120" y="4187952"/>
            <a:ext cx="4389120" cy="1097280"/>
          </a:xfrm>
          <a:prstGeom prst="rect">
            <a:avLst/>
          </a:prstGeom>
          <a:noFill/>
        </p:spPr>
        <p:txBody>
          <a:bodyPr wrap="square">
            <a:spAutoFit/>
          </a:bodyPr>
          <a:lstStyle/>
          <a:p>
            <a:pPr algn="l">
              <a:defRPr sz="1100" b="0">
                <a:solidFill>
                  <a:srgbClr val="415A77"/>
                </a:solidFill>
                <a:latin typeface="Calibri"/>
              </a:defRPr>
            </a:pPr>
            <a:r>
              <a:t>AI-powered analysis of credit agreements, indentures, and restricted payment baskets. Identifies weak covenant packages, portability clauses, J.Crew blockers, and dividend recap risk. Cross-references documentation quality with leverage trajectory and management behaviour to produce a covenant risk score for each name.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9144000" cy="457200"/>
          </a:xfrm>
          <a:prstGeom prst="rect">
            <a:avLst/>
          </a:prstGeom>
          <a:noFill/>
        </p:spPr>
        <p:txBody>
          <a:bodyPr wrap="square">
            <a:spAutoFit/>
          </a:bodyPr>
          <a:lstStyle/>
          <a:p>
            <a:pPr algn="l">
              <a:defRPr sz="2400" b="1">
                <a:solidFill>
                  <a:srgbClr val="FFFFFF"/>
                </a:solidFill>
                <a:latin typeface="Calibri"/>
              </a:defRPr>
            </a:pPr>
            <a:r>
              <a:t>CREDIT ANALYSIS SKILLS</a:t>
            </a:r>
          </a:p>
        </p:txBody>
      </p:sp>
      <p:sp>
        <p:nvSpPr>
          <p:cNvPr id="4" name="TextBox 3"/>
          <p:cNvSpPr txBox="1"/>
          <p:nvPr/>
        </p:nvSpPr>
        <p:spPr>
          <a:xfrm>
            <a:off x="731520" y="594360"/>
            <a:ext cx="9144000" cy="365760"/>
          </a:xfrm>
          <a:prstGeom prst="rect">
            <a:avLst/>
          </a:prstGeom>
          <a:noFill/>
        </p:spPr>
        <p:txBody>
          <a:bodyPr wrap="square">
            <a:spAutoFit/>
          </a:bodyPr>
          <a:lstStyle/>
          <a:p>
            <a:pPr algn="l">
              <a:defRPr sz="1300" b="0">
                <a:solidFill>
                  <a:srgbClr val="778DA9"/>
                </a:solidFill>
                <a:latin typeface="Calibri"/>
              </a:defRPr>
            </a:pPr>
            <a:r>
              <a:t>Standard analysis augmented by forensic AI scrutiny</a:t>
            </a:r>
          </a:p>
        </p:txBody>
      </p:sp>
      <p:sp>
        <p:nvSpPr>
          <p:cNvPr id="5" name="TextBox 4"/>
          <p:cNvSpPr txBox="1"/>
          <p:nvPr/>
        </p:nvSpPr>
        <p:spPr>
          <a:xfrm>
            <a:off x="9326880" y="228600"/>
            <a:ext cx="2560320" cy="365760"/>
          </a:xfrm>
          <a:prstGeom prst="rect">
            <a:avLst/>
          </a:prstGeom>
          <a:noFill/>
        </p:spPr>
        <p:txBody>
          <a:bodyPr wrap="square">
            <a:spAutoFit/>
          </a:bodyPr>
          <a:lstStyle/>
          <a:p>
            <a:pPr algn="r">
              <a:defRPr sz="1100" b="1">
                <a:solidFill>
                  <a:srgbClr val="3B82F6"/>
                </a:solidFill>
                <a:latin typeface="Calibri"/>
              </a:defRPr>
            </a:pPr>
            <a:r>
              <a:t>MACRO CREDIT MONITOR</a:t>
            </a:r>
          </a:p>
        </p:txBody>
      </p:sp>
      <p:sp>
        <p:nvSpPr>
          <p:cNvPr id="6" name="TextBox 5"/>
          <p:cNvSpPr txBox="1"/>
          <p:nvPr/>
        </p:nvSpPr>
        <p:spPr>
          <a:xfrm>
            <a:off x="731520" y="6400800"/>
            <a:ext cx="9144000" cy="274320"/>
          </a:xfrm>
          <a:prstGeom prst="rect">
            <a:avLst/>
          </a:prstGeom>
          <a:noFill/>
        </p:spPr>
        <p:txBody>
          <a:bodyPr wrap="square">
            <a:spAutoFit/>
          </a:bodyPr>
          <a:lstStyle/>
          <a:p>
            <a:pPr algn="l">
              <a:defRPr sz="800" b="0">
                <a:solidFill>
                  <a:srgbClr val="778DA9"/>
                </a:solidFill>
                <a:latin typeface="Calibri"/>
              </a:defRPr>
            </a:pPr>
            <a:r>
              <a:t>BRUMMER &amp; PARTNERS PITCH  |  CONFIDENTIAL  |  2026-02-26</a:t>
            </a:r>
          </a:p>
        </p:txBody>
      </p:sp>
      <p:sp>
        <p:nvSpPr>
          <p:cNvPr id="7" name="TextBox 6"/>
          <p:cNvSpPr txBox="1"/>
          <p:nvPr/>
        </p:nvSpPr>
        <p:spPr>
          <a:xfrm>
            <a:off x="731520" y="1371600"/>
            <a:ext cx="5029200" cy="320040"/>
          </a:xfrm>
          <a:prstGeom prst="rect">
            <a:avLst/>
          </a:prstGeom>
          <a:noFill/>
        </p:spPr>
        <p:txBody>
          <a:bodyPr wrap="square">
            <a:spAutoFit/>
          </a:bodyPr>
          <a:lstStyle/>
          <a:p>
            <a:pPr algn="l">
              <a:defRPr sz="1400" b="1">
                <a:solidFill>
                  <a:srgbClr val="0D1B2A"/>
                </a:solidFill>
                <a:latin typeface="Calibri"/>
              </a:defRPr>
            </a:pPr>
            <a:r>
              <a:t>STANDARD CREDIT ANALYSIS</a:t>
            </a:r>
          </a:p>
        </p:txBody>
      </p:sp>
      <p:sp>
        <p:nvSpPr>
          <p:cNvPr id="8" name="TextBox 7"/>
          <p:cNvSpPr txBox="1"/>
          <p:nvPr/>
        </p:nvSpPr>
        <p:spPr>
          <a:xfrm>
            <a:off x="731520" y="1783080"/>
            <a:ext cx="5029200" cy="4114800"/>
          </a:xfrm>
          <a:prstGeom prst="rect">
            <a:avLst/>
          </a:prstGeom>
          <a:noFill/>
        </p:spPr>
        <p:txBody>
          <a:bodyPr wrap="square">
            <a:spAutoFit/>
          </a:bodyPr>
          <a:lstStyle/>
          <a:p>
            <a:pPr algn="l">
              <a:defRPr sz="1100" b="0">
                <a:solidFill>
                  <a:srgbClr val="415A77"/>
                </a:solidFill>
                <a:latin typeface="Calibri"/>
              </a:defRPr>
            </a:pPr>
          </a:p>
          <a:p>
            <a:pPr algn="l">
              <a:spcBef>
                <a:spcPts val="300"/>
              </a:spcBef>
              <a:spcAft>
                <a:spcPts val="100"/>
              </a:spcAft>
              <a:defRPr sz="1000" b="0">
                <a:solidFill>
                  <a:srgbClr val="415A77"/>
                </a:solidFill>
                <a:latin typeface="Calibri"/>
              </a:defRPr>
            </a:pPr>
            <a:r>
              <a:t>   Leverage trends (Net Debt / EBITDA, Secured / Unsecured split)</a:t>
            </a:r>
          </a:p>
          <a:p>
            <a:pPr algn="l">
              <a:spcBef>
                <a:spcPts val="300"/>
              </a:spcBef>
              <a:spcAft>
                <a:spcPts val="100"/>
              </a:spcAft>
              <a:defRPr sz="1000" b="0">
                <a:solidFill>
                  <a:srgbClr val="415A77"/>
                </a:solidFill>
                <a:latin typeface="Calibri"/>
              </a:defRPr>
            </a:pPr>
            <a:r>
              <a:t>   Interest coverage erosion (EBITDA / Interest, Fixed Charge Coverage)</a:t>
            </a:r>
          </a:p>
          <a:p>
            <a:pPr algn="l">
              <a:spcBef>
                <a:spcPts val="300"/>
              </a:spcBef>
              <a:spcAft>
                <a:spcPts val="100"/>
              </a:spcAft>
              <a:defRPr sz="1000" b="0">
                <a:solidFill>
                  <a:srgbClr val="415A77"/>
                </a:solidFill>
                <a:latin typeface="Calibri"/>
              </a:defRPr>
            </a:pPr>
            <a:r>
              <a:t>   Free cash flow trajectory and cash burn rate</a:t>
            </a:r>
          </a:p>
          <a:p>
            <a:pPr algn="l">
              <a:spcBef>
                <a:spcPts val="300"/>
              </a:spcBef>
              <a:spcAft>
                <a:spcPts val="100"/>
              </a:spcAft>
              <a:defRPr sz="1000" b="0">
                <a:solidFill>
                  <a:srgbClr val="415A77"/>
                </a:solidFill>
                <a:latin typeface="Calibri"/>
              </a:defRPr>
            </a:pPr>
            <a:r>
              <a:t>   Maturity wall analysis and refinancing risk</a:t>
            </a:r>
          </a:p>
          <a:p>
            <a:pPr algn="l">
              <a:spcBef>
                <a:spcPts val="300"/>
              </a:spcBef>
              <a:spcAft>
                <a:spcPts val="100"/>
              </a:spcAft>
              <a:defRPr sz="1000" b="0">
                <a:solidFill>
                  <a:srgbClr val="415A77"/>
                </a:solidFill>
                <a:latin typeface="Calibri"/>
              </a:defRPr>
            </a:pPr>
            <a:r>
              <a:t>   Capital structure waterfall (secured, unsecured, subordinated)</a:t>
            </a:r>
          </a:p>
          <a:p>
            <a:pPr algn="l">
              <a:spcBef>
                <a:spcPts val="300"/>
              </a:spcBef>
              <a:spcAft>
                <a:spcPts val="100"/>
              </a:spcAft>
              <a:defRPr sz="1000" b="0">
                <a:solidFill>
                  <a:srgbClr val="415A77"/>
                </a:solidFill>
                <a:latin typeface="Calibri"/>
              </a:defRPr>
            </a:pPr>
            <a:r>
              <a:t>   Sector dynamics and competitive positioning</a:t>
            </a:r>
          </a:p>
          <a:p>
            <a:pPr algn="l">
              <a:spcBef>
                <a:spcPts val="300"/>
              </a:spcBef>
              <a:spcAft>
                <a:spcPts val="100"/>
              </a:spcAft>
              <a:defRPr sz="1000" b="0">
                <a:solidFill>
                  <a:srgbClr val="415A77"/>
                </a:solidFill>
                <a:latin typeface="Calibri"/>
              </a:defRPr>
            </a:pPr>
            <a:r>
              <a:t>   Sponsor behaviour and management track record</a:t>
            </a:r>
          </a:p>
          <a:p>
            <a:pPr algn="l">
              <a:spcBef>
                <a:spcPts val="300"/>
              </a:spcBef>
              <a:spcAft>
                <a:spcPts val="100"/>
              </a:spcAft>
              <a:defRPr sz="1000" b="0">
                <a:solidFill>
                  <a:srgbClr val="415A77"/>
                </a:solidFill>
                <a:latin typeface="Calibri"/>
              </a:defRPr>
            </a:pPr>
            <a:r>
              <a:t>   Rating agency methodology and migration probability</a:t>
            </a:r>
          </a:p>
        </p:txBody>
      </p:sp>
      <p:sp>
        <p:nvSpPr>
          <p:cNvPr id="9" name="TextBox 8"/>
          <p:cNvSpPr txBox="1"/>
          <p:nvPr/>
        </p:nvSpPr>
        <p:spPr>
          <a:xfrm>
            <a:off x="6217920" y="1371600"/>
            <a:ext cx="5029200" cy="320040"/>
          </a:xfrm>
          <a:prstGeom prst="rect">
            <a:avLst/>
          </a:prstGeom>
          <a:noFill/>
        </p:spPr>
        <p:txBody>
          <a:bodyPr wrap="square">
            <a:spAutoFit/>
          </a:bodyPr>
          <a:lstStyle/>
          <a:p>
            <a:pPr algn="l">
              <a:defRPr sz="1400" b="1">
                <a:solidFill>
                  <a:srgbClr val="3B82F6"/>
                </a:solidFill>
                <a:latin typeface="Calibri"/>
              </a:defRPr>
            </a:pPr>
            <a:r>
              <a:t>FORENSIC AI AUGMENTATION</a:t>
            </a:r>
          </a:p>
        </p:txBody>
      </p:sp>
      <p:sp>
        <p:nvSpPr>
          <p:cNvPr id="10" name="TextBox 9"/>
          <p:cNvSpPr txBox="1"/>
          <p:nvPr/>
        </p:nvSpPr>
        <p:spPr>
          <a:xfrm>
            <a:off x="6217920" y="1783080"/>
            <a:ext cx="5029200" cy="4389120"/>
          </a:xfrm>
          <a:prstGeom prst="rect">
            <a:avLst/>
          </a:prstGeom>
          <a:noFill/>
        </p:spPr>
        <p:txBody>
          <a:bodyPr wrap="square">
            <a:spAutoFit/>
          </a:bodyPr>
          <a:lstStyle/>
          <a:p>
            <a:pPr algn="l">
              <a:defRPr sz="1100" b="0">
                <a:solidFill>
                  <a:srgbClr val="415A77"/>
                </a:solidFill>
                <a:latin typeface="Calibri"/>
              </a:defRPr>
            </a:pPr>
          </a:p>
          <a:p>
            <a:pPr algn="l">
              <a:spcBef>
                <a:spcPts val="400"/>
              </a:spcBef>
              <a:spcAft>
                <a:spcPts val="200"/>
              </a:spcAft>
              <a:defRPr sz="1000" b="0">
                <a:solidFill>
                  <a:srgbClr val="415A77"/>
                </a:solidFill>
                <a:latin typeface="Calibri"/>
              </a:defRPr>
            </a:pPr>
            <a:r>
              <a:t>   Management tone analysis -- LLM reads earnings transcripts and detects hedging language, confidence shifts between quarters, and inconsistencies vs. reported numbers</a:t>
            </a:r>
          </a:p>
          <a:p>
            <a:pPr algn="l">
              <a:spcBef>
                <a:spcPts val="400"/>
              </a:spcBef>
              <a:spcAft>
                <a:spcPts val="200"/>
              </a:spcAft>
              <a:defRPr sz="1000" b="0">
                <a:solidFill>
                  <a:srgbClr val="415A77"/>
                </a:solidFill>
                <a:latin typeface="Calibri"/>
              </a:defRPr>
            </a:pPr>
            <a:r>
              <a:t>   Balance sheet forensics -- AI identifies off-balance-sheet obligations, factoring arrangements, pension underfunding, and lease adjustments that distort reported leverage</a:t>
            </a:r>
          </a:p>
          <a:p>
            <a:pPr algn="l">
              <a:spcBef>
                <a:spcPts val="400"/>
              </a:spcBef>
              <a:spcAft>
                <a:spcPts val="200"/>
              </a:spcAft>
              <a:defRPr sz="1000" b="0">
                <a:solidFill>
                  <a:srgbClr val="415A77"/>
                </a:solidFill>
                <a:latin typeface="Calibri"/>
              </a:defRPr>
            </a:pPr>
            <a:r>
              <a:t>   Covenant document scrubbing -- automated extraction of restricted payment baskets, portability clauses, and builder basket accumulation across 200 names simultaneously</a:t>
            </a:r>
          </a:p>
          <a:p>
            <a:pPr algn="l">
              <a:spcBef>
                <a:spcPts val="400"/>
              </a:spcBef>
              <a:spcAft>
                <a:spcPts val="200"/>
              </a:spcAft>
              <a:defRPr sz="1000" b="0">
                <a:solidFill>
                  <a:srgbClr val="415A77"/>
                </a:solidFill>
                <a:latin typeface="Calibri"/>
              </a:defRPr>
            </a:pPr>
            <a:r>
              <a:t>   Filing anomaly detection -- flags unusual regulatory filings (dividend recaps at high leverage, unexpected charge filings, covenant resets) that precede spread moves</a:t>
            </a:r>
          </a:p>
          <a:p>
            <a:pPr algn="l">
              <a:spcBef>
                <a:spcPts val="400"/>
              </a:spcBef>
              <a:spcAft>
                <a:spcPts val="200"/>
              </a:spcAft>
              <a:defRPr sz="1000" b="0">
                <a:solidFill>
                  <a:srgbClr val="415A77"/>
                </a:solidFill>
                <a:latin typeface="Calibri"/>
              </a:defRPr>
            </a:pPr>
            <a:r>
              <a:t>   Cross-referencing -- AI correlates management claims with actual filings, cash flow statements, and peer comparisons to identify names where the story doesn't match the numbers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9144000" cy="457200"/>
          </a:xfrm>
          <a:prstGeom prst="rect">
            <a:avLst/>
          </a:prstGeom>
          <a:noFill/>
        </p:spPr>
        <p:txBody>
          <a:bodyPr wrap="square">
            <a:spAutoFit/>
          </a:bodyPr>
          <a:lstStyle/>
          <a:p>
            <a:pPr algn="l">
              <a:defRPr sz="2400" b="1">
                <a:solidFill>
                  <a:srgbClr val="FFFFFF"/>
                </a:solidFill>
                <a:latin typeface="Calibri"/>
              </a:defRPr>
            </a:pPr>
            <a:r>
              <a:t>THE UNIVERSE</a:t>
            </a:r>
          </a:p>
        </p:txBody>
      </p:sp>
      <p:sp>
        <p:nvSpPr>
          <p:cNvPr id="4" name="TextBox 3"/>
          <p:cNvSpPr txBox="1"/>
          <p:nvPr/>
        </p:nvSpPr>
        <p:spPr>
          <a:xfrm>
            <a:off x="731520" y="594360"/>
            <a:ext cx="9144000" cy="365760"/>
          </a:xfrm>
          <a:prstGeom prst="rect">
            <a:avLst/>
          </a:prstGeom>
          <a:noFill/>
        </p:spPr>
        <p:txBody>
          <a:bodyPr wrap="square">
            <a:spAutoFit/>
          </a:bodyPr>
          <a:lstStyle/>
          <a:p>
            <a:pPr algn="l">
              <a:defRPr sz="1300" b="0">
                <a:solidFill>
                  <a:srgbClr val="778DA9"/>
                </a:solidFill>
                <a:latin typeface="Calibri"/>
              </a:defRPr>
            </a:pPr>
            <a:r>
              <a:t>iTraxx Europe S44 -- 200 names</a:t>
            </a:r>
          </a:p>
        </p:txBody>
      </p:sp>
      <p:sp>
        <p:nvSpPr>
          <p:cNvPr id="5" name="TextBox 4"/>
          <p:cNvSpPr txBox="1"/>
          <p:nvPr/>
        </p:nvSpPr>
        <p:spPr>
          <a:xfrm>
            <a:off x="9326880" y="228600"/>
            <a:ext cx="2560320" cy="365760"/>
          </a:xfrm>
          <a:prstGeom prst="rect">
            <a:avLst/>
          </a:prstGeom>
          <a:noFill/>
        </p:spPr>
        <p:txBody>
          <a:bodyPr wrap="square">
            <a:spAutoFit/>
          </a:bodyPr>
          <a:lstStyle/>
          <a:p>
            <a:pPr algn="r">
              <a:defRPr sz="1100" b="1">
                <a:solidFill>
                  <a:srgbClr val="3B82F6"/>
                </a:solidFill>
                <a:latin typeface="Calibri"/>
              </a:defRPr>
            </a:pPr>
            <a:r>
              <a:t>MACRO CREDIT MONITOR</a:t>
            </a:r>
          </a:p>
        </p:txBody>
      </p:sp>
      <p:sp>
        <p:nvSpPr>
          <p:cNvPr id="6" name="TextBox 5"/>
          <p:cNvSpPr txBox="1"/>
          <p:nvPr/>
        </p:nvSpPr>
        <p:spPr>
          <a:xfrm>
            <a:off x="731520" y="6400800"/>
            <a:ext cx="9144000" cy="274320"/>
          </a:xfrm>
          <a:prstGeom prst="rect">
            <a:avLst/>
          </a:prstGeom>
          <a:noFill/>
        </p:spPr>
        <p:txBody>
          <a:bodyPr wrap="square">
            <a:spAutoFit/>
          </a:bodyPr>
          <a:lstStyle/>
          <a:p>
            <a:pPr algn="l">
              <a:defRPr sz="800" b="0">
                <a:solidFill>
                  <a:srgbClr val="778DA9"/>
                </a:solidFill>
                <a:latin typeface="Calibri"/>
              </a:defRPr>
            </a:pPr>
            <a:r>
              <a:t>BRUMMER &amp; PARTNERS PITCH  |  CONFIDENTIAL  |  2026-02-26</a:t>
            </a:r>
          </a:p>
        </p:txBody>
      </p:sp>
      <p:sp>
        <p:nvSpPr>
          <p:cNvPr id="7" name="Rectangle 6"/>
          <p:cNvSpPr/>
          <p:nvPr/>
        </p:nvSpPr>
        <p:spPr>
          <a:xfrm>
            <a:off x="731520" y="1371600"/>
            <a:ext cx="5029200" cy="365760"/>
          </a:xfrm>
          <a:prstGeom prst="rect">
            <a:avLst/>
          </a:prstGeom>
          <a:solidFill>
            <a:srgbClr val="1B2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371600"/>
            <a:ext cx="4846320" cy="365760"/>
          </a:xfrm>
          <a:prstGeom prst="rect">
            <a:avLst/>
          </a:prstGeom>
          <a:noFill/>
        </p:spPr>
        <p:txBody>
          <a:bodyPr wrap="square">
            <a:spAutoFit/>
          </a:bodyPr>
          <a:lstStyle/>
          <a:p>
            <a:pPr algn="l">
              <a:defRPr sz="1400" b="1">
                <a:solidFill>
                  <a:srgbClr val="FFFFFF"/>
                </a:solidFill>
                <a:latin typeface="Calibri"/>
              </a:defRPr>
            </a:pPr>
            <a:r>
              <a:t>iTraxx Main -- 125 names</a:t>
            </a:r>
          </a:p>
        </p:txBody>
      </p:sp>
      <p:sp>
        <p:nvSpPr>
          <p:cNvPr id="9" name="TextBox 8"/>
          <p:cNvSpPr txBox="1"/>
          <p:nvPr/>
        </p:nvSpPr>
        <p:spPr>
          <a:xfrm>
            <a:off x="731520" y="1874519"/>
            <a:ext cx="5029200" cy="274320"/>
          </a:xfrm>
          <a:prstGeom prst="rect">
            <a:avLst/>
          </a:prstGeom>
          <a:noFill/>
        </p:spPr>
        <p:txBody>
          <a:bodyPr wrap="square">
            <a:spAutoFit/>
          </a:bodyPr>
          <a:lstStyle/>
          <a:p>
            <a:pPr algn="l">
              <a:defRPr sz="1100" b="0">
                <a:solidFill>
                  <a:srgbClr val="415A77"/>
                </a:solidFill>
                <a:latin typeface="Calibri"/>
              </a:defRPr>
            </a:pPr>
            <a:r>
              <a:t>53bp avg  |  46bp median  |  20-167bp range</a:t>
            </a:r>
          </a:p>
        </p:txBody>
      </p:sp>
      <p:sp>
        <p:nvSpPr>
          <p:cNvPr id="10" name="TextBox 9"/>
          <p:cNvSpPr txBox="1"/>
          <p:nvPr/>
        </p:nvSpPr>
        <p:spPr>
          <a:xfrm>
            <a:off x="731520" y="2240280"/>
            <a:ext cx="5029200" cy="274320"/>
          </a:xfrm>
          <a:prstGeom prst="rect">
            <a:avLst/>
          </a:prstGeom>
          <a:noFill/>
        </p:spPr>
        <p:txBody>
          <a:bodyPr wrap="square">
            <a:spAutoFit/>
          </a:bodyPr>
          <a:lstStyle/>
          <a:p>
            <a:pPr algn="l">
              <a:defRPr sz="1100" b="1">
                <a:solidFill>
                  <a:srgbClr val="0D1B2A"/>
                </a:solidFill>
                <a:latin typeface="Calibri"/>
              </a:defRPr>
            </a:pPr>
            <a:r>
              <a:t>Widest spreads:</a:t>
            </a:r>
          </a:p>
        </p:txBody>
      </p:sp>
      <p:sp>
        <p:nvSpPr>
          <p:cNvPr id="11" name="TextBox 10"/>
          <p:cNvSpPr txBox="1"/>
          <p:nvPr/>
        </p:nvSpPr>
        <p:spPr>
          <a:xfrm>
            <a:off x="731520" y="2560320"/>
            <a:ext cx="5029200" cy="2286000"/>
          </a:xfrm>
          <a:prstGeom prst="rect">
            <a:avLst/>
          </a:prstGeom>
          <a:noFill/>
        </p:spPr>
        <p:txBody>
          <a:bodyPr wrap="square">
            <a:spAutoFit/>
          </a:bodyPr>
          <a:lstStyle/>
          <a:p>
            <a:pPr algn="l">
              <a:defRPr sz="1100" b="0">
                <a:solidFill>
                  <a:srgbClr val="415A77"/>
                </a:solidFill>
                <a:latin typeface="Calibri"/>
              </a:defRPr>
            </a:pPr>
          </a:p>
          <a:p>
            <a:pPr algn="l">
              <a:spcBef>
                <a:spcPts val="200"/>
              </a:spcBef>
              <a:spcAft>
                <a:spcPts val="0"/>
              </a:spcAft>
              <a:defRPr sz="1100" b="0">
                <a:solidFill>
                  <a:srgbClr val="415A77"/>
                </a:solidFill>
                <a:latin typeface="Consolas"/>
              </a:defRPr>
            </a:pPr>
            <a:r>
              <a:t>   Suedzucker AG                       167bp</a:t>
            </a:r>
          </a:p>
          <a:p>
            <a:pPr algn="l">
              <a:spcBef>
                <a:spcPts val="200"/>
              </a:spcBef>
              <a:spcAft>
                <a:spcPts val="0"/>
              </a:spcAft>
              <a:defRPr sz="1100" b="0">
                <a:solidFill>
                  <a:srgbClr val="415A77"/>
                </a:solidFill>
                <a:latin typeface="Consolas"/>
              </a:defRPr>
            </a:pPr>
            <a:r>
              <a:t>   Stellantis NV                       150bp</a:t>
            </a:r>
          </a:p>
          <a:p>
            <a:pPr algn="l">
              <a:spcBef>
                <a:spcPts val="200"/>
              </a:spcBef>
              <a:spcAft>
                <a:spcPts val="0"/>
              </a:spcAft>
              <a:defRPr sz="1100" b="0">
                <a:solidFill>
                  <a:srgbClr val="415A77"/>
                </a:solidFill>
                <a:latin typeface="Consolas"/>
              </a:defRPr>
            </a:pPr>
            <a:r>
              <a:t>   WPP 2005 Ltd                        149bp</a:t>
            </a:r>
          </a:p>
          <a:p>
            <a:pPr algn="l">
              <a:spcBef>
                <a:spcPts val="200"/>
              </a:spcBef>
              <a:spcAft>
                <a:spcPts val="0"/>
              </a:spcAft>
              <a:defRPr sz="1100" b="0">
                <a:solidFill>
                  <a:srgbClr val="415A77"/>
                </a:solidFill>
                <a:latin typeface="Consolas"/>
              </a:defRPr>
            </a:pPr>
            <a:r>
              <a:t>   PostNL NV                           147bp</a:t>
            </a:r>
          </a:p>
          <a:p>
            <a:pPr algn="l">
              <a:spcBef>
                <a:spcPts val="200"/>
              </a:spcBef>
              <a:spcAft>
                <a:spcPts val="0"/>
              </a:spcAft>
              <a:defRPr sz="1100" b="0">
                <a:solidFill>
                  <a:srgbClr val="415A77"/>
                </a:solidFill>
                <a:latin typeface="Consolas"/>
              </a:defRPr>
            </a:pPr>
            <a:r>
              <a:t>   Electrolux AB                       110bp</a:t>
            </a:r>
          </a:p>
        </p:txBody>
      </p:sp>
      <p:sp>
        <p:nvSpPr>
          <p:cNvPr id="12" name="TextBox 11"/>
          <p:cNvSpPr txBox="1"/>
          <p:nvPr/>
        </p:nvSpPr>
        <p:spPr>
          <a:xfrm>
            <a:off x="731520" y="4389120"/>
            <a:ext cx="5029200" cy="274320"/>
          </a:xfrm>
          <a:prstGeom prst="rect">
            <a:avLst/>
          </a:prstGeom>
          <a:noFill/>
        </p:spPr>
        <p:txBody>
          <a:bodyPr wrap="square">
            <a:spAutoFit/>
          </a:bodyPr>
          <a:lstStyle/>
          <a:p>
            <a:pPr algn="l">
              <a:defRPr sz="1100" b="1">
                <a:solidFill>
                  <a:srgbClr val="0D1B2A"/>
                </a:solidFill>
                <a:latin typeface="Calibri"/>
              </a:defRPr>
            </a:pPr>
            <a:r>
              <a:t>Distribution:</a:t>
            </a:r>
          </a:p>
        </p:txBody>
      </p:sp>
      <p:sp>
        <p:nvSpPr>
          <p:cNvPr id="13" name="TextBox 12"/>
          <p:cNvSpPr txBox="1"/>
          <p:nvPr/>
        </p:nvSpPr>
        <p:spPr>
          <a:xfrm>
            <a:off x="731520" y="4709160"/>
            <a:ext cx="5029200" cy="365760"/>
          </a:xfrm>
          <a:prstGeom prst="rect">
            <a:avLst/>
          </a:prstGeom>
          <a:noFill/>
        </p:spPr>
        <p:txBody>
          <a:bodyPr wrap="square">
            <a:spAutoFit/>
          </a:bodyPr>
          <a:lstStyle/>
          <a:p>
            <a:pPr algn="l">
              <a:defRPr sz="900" b="0">
                <a:solidFill>
                  <a:srgbClr val="6B7280"/>
                </a:solidFill>
                <a:latin typeface="Calibri"/>
              </a:defRPr>
            </a:pPr>
            <a:r>
              <a:t>under_30bp: 26  |  30_50bp: 40  |  50_75bp: 32  |  75_100bp: 17  |  100_150bp: 8  |  over_150bp: 2</a:t>
            </a:r>
          </a:p>
        </p:txBody>
      </p:sp>
      <p:sp>
        <p:nvSpPr>
          <p:cNvPr id="14" name="Rectangle 13"/>
          <p:cNvSpPr/>
          <p:nvPr/>
        </p:nvSpPr>
        <p:spPr>
          <a:xfrm>
            <a:off x="6217920" y="1371600"/>
            <a:ext cx="5029200" cy="365760"/>
          </a:xfrm>
          <a:prstGeom prst="rect">
            <a:avLst/>
          </a:prstGeom>
          <a:solidFill>
            <a:srgbClr val="DC3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9360" y="1371600"/>
            <a:ext cx="4846320" cy="365760"/>
          </a:xfrm>
          <a:prstGeom prst="rect">
            <a:avLst/>
          </a:prstGeom>
          <a:noFill/>
        </p:spPr>
        <p:txBody>
          <a:bodyPr wrap="square">
            <a:spAutoFit/>
          </a:bodyPr>
          <a:lstStyle/>
          <a:p>
            <a:pPr algn="l">
              <a:defRPr sz="1400" b="1">
                <a:solidFill>
                  <a:srgbClr val="FFFFFF"/>
                </a:solidFill>
                <a:latin typeface="Calibri"/>
              </a:defRPr>
            </a:pPr>
            <a:r>
              <a:t>iTraxx Crossover -- 75 names</a:t>
            </a:r>
          </a:p>
        </p:txBody>
      </p:sp>
      <p:sp>
        <p:nvSpPr>
          <p:cNvPr id="16" name="TextBox 15"/>
          <p:cNvSpPr txBox="1"/>
          <p:nvPr/>
        </p:nvSpPr>
        <p:spPr>
          <a:xfrm>
            <a:off x="6217920" y="1874519"/>
            <a:ext cx="5029200" cy="274320"/>
          </a:xfrm>
          <a:prstGeom prst="rect">
            <a:avLst/>
          </a:prstGeom>
          <a:noFill/>
        </p:spPr>
        <p:txBody>
          <a:bodyPr wrap="square">
            <a:spAutoFit/>
          </a:bodyPr>
          <a:lstStyle/>
          <a:p>
            <a:pPr algn="l">
              <a:defRPr sz="1100" b="0">
                <a:solidFill>
                  <a:srgbClr val="415A77"/>
                </a:solidFill>
                <a:latin typeface="Calibri"/>
              </a:defRPr>
            </a:pPr>
            <a:r>
              <a:t>250bp avg  |  195bp median  |  50-1224bp range</a:t>
            </a:r>
          </a:p>
        </p:txBody>
      </p:sp>
      <p:sp>
        <p:nvSpPr>
          <p:cNvPr id="17" name="TextBox 16"/>
          <p:cNvSpPr txBox="1"/>
          <p:nvPr/>
        </p:nvSpPr>
        <p:spPr>
          <a:xfrm>
            <a:off x="6217920" y="2240280"/>
            <a:ext cx="5029200" cy="274320"/>
          </a:xfrm>
          <a:prstGeom prst="rect">
            <a:avLst/>
          </a:prstGeom>
          <a:noFill/>
        </p:spPr>
        <p:txBody>
          <a:bodyPr wrap="square">
            <a:spAutoFit/>
          </a:bodyPr>
          <a:lstStyle/>
          <a:p>
            <a:pPr algn="l">
              <a:defRPr sz="1100" b="1">
                <a:solidFill>
                  <a:srgbClr val="0D1B2A"/>
                </a:solidFill>
                <a:latin typeface="Calibri"/>
              </a:defRPr>
            </a:pPr>
            <a:r>
              <a:t>Widest spreads:</a:t>
            </a:r>
          </a:p>
        </p:txBody>
      </p:sp>
      <p:sp>
        <p:nvSpPr>
          <p:cNvPr id="18" name="TextBox 17"/>
          <p:cNvSpPr txBox="1"/>
          <p:nvPr/>
        </p:nvSpPr>
        <p:spPr>
          <a:xfrm>
            <a:off x="6217920" y="2560320"/>
            <a:ext cx="5029200" cy="2286000"/>
          </a:xfrm>
          <a:prstGeom prst="rect">
            <a:avLst/>
          </a:prstGeom>
          <a:noFill/>
        </p:spPr>
        <p:txBody>
          <a:bodyPr wrap="square">
            <a:spAutoFit/>
          </a:bodyPr>
          <a:lstStyle/>
          <a:p>
            <a:pPr algn="l">
              <a:defRPr sz="1100" b="0">
                <a:solidFill>
                  <a:srgbClr val="415A77"/>
                </a:solidFill>
                <a:latin typeface="Calibri"/>
              </a:defRPr>
            </a:pPr>
          </a:p>
          <a:p>
            <a:pPr algn="l">
              <a:spcBef>
                <a:spcPts val="200"/>
              </a:spcBef>
              <a:spcAft>
                <a:spcPts val="0"/>
              </a:spcAft>
              <a:defRPr sz="1100" b="0">
                <a:solidFill>
                  <a:srgbClr val="415A77"/>
                </a:solidFill>
                <a:latin typeface="Consolas"/>
              </a:defRPr>
            </a:pPr>
            <a:r>
              <a:t>   INEOS Quattro Finance 2 Plc         1224bp (20.8pts)</a:t>
            </a:r>
          </a:p>
          <a:p>
            <a:pPr algn="l">
              <a:spcBef>
                <a:spcPts val="200"/>
              </a:spcBef>
              <a:spcAft>
                <a:spcPts val="0"/>
              </a:spcAft>
              <a:defRPr sz="1100" b="0">
                <a:solidFill>
                  <a:srgbClr val="415A77"/>
                </a:solidFill>
                <a:latin typeface="Consolas"/>
              </a:defRPr>
            </a:pPr>
            <a:r>
              <a:t>   Worldline SA/France                 1027bp (15.95pts)</a:t>
            </a:r>
          </a:p>
          <a:p>
            <a:pPr algn="l">
              <a:spcBef>
                <a:spcPts val="200"/>
              </a:spcBef>
              <a:spcAft>
                <a:spcPts val="0"/>
              </a:spcAft>
              <a:defRPr sz="1100" b="0">
                <a:solidFill>
                  <a:srgbClr val="415A77"/>
                </a:solidFill>
                <a:latin typeface="Consolas"/>
              </a:defRPr>
            </a:pPr>
            <a:r>
              <a:t>   INEOS Finance PLC                   908bp (12.95pts)</a:t>
            </a:r>
          </a:p>
          <a:p>
            <a:pPr algn="l">
              <a:spcBef>
                <a:spcPts val="200"/>
              </a:spcBef>
              <a:spcAft>
                <a:spcPts val="0"/>
              </a:spcAft>
              <a:defRPr sz="1100" b="0">
                <a:solidFill>
                  <a:srgbClr val="415A77"/>
                </a:solidFill>
                <a:latin typeface="Consolas"/>
              </a:defRPr>
            </a:pPr>
            <a:r>
              <a:t>   Bellis Acquisition Co PLC           650bp</a:t>
            </a:r>
          </a:p>
          <a:p>
            <a:pPr algn="l">
              <a:spcBef>
                <a:spcPts val="200"/>
              </a:spcBef>
              <a:spcAft>
                <a:spcPts val="0"/>
              </a:spcAft>
              <a:defRPr sz="1100" b="0">
                <a:solidFill>
                  <a:srgbClr val="415A77"/>
                </a:solidFill>
                <a:latin typeface="Consolas"/>
              </a:defRPr>
            </a:pPr>
            <a:r>
              <a:t>   Sherwood Financing PLC              585bp</a:t>
            </a:r>
          </a:p>
        </p:txBody>
      </p:sp>
      <p:sp>
        <p:nvSpPr>
          <p:cNvPr id="19" name="TextBox 18"/>
          <p:cNvSpPr txBox="1"/>
          <p:nvPr/>
        </p:nvSpPr>
        <p:spPr>
          <a:xfrm>
            <a:off x="6217920" y="4389120"/>
            <a:ext cx="5029200" cy="548640"/>
          </a:xfrm>
          <a:prstGeom prst="rect">
            <a:avLst/>
          </a:prstGeom>
          <a:noFill/>
        </p:spPr>
        <p:txBody>
          <a:bodyPr wrap="square">
            <a:spAutoFit/>
          </a:bodyPr>
          <a:lstStyle/>
          <a:p>
            <a:pPr algn="l">
              <a:defRPr sz="1100" b="1">
                <a:solidFill>
                  <a:srgbClr val="0D1B2A"/>
                </a:solidFill>
                <a:latin typeface="Calibri"/>
              </a:defRPr>
            </a:pPr>
            <a:r>
              <a:t>4 names trading points upfront -- distressed pricing. These are the opportunities the monitoring system catches early.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731520" y="2560320"/>
            <a:ext cx="10728655" cy="914400"/>
          </a:xfrm>
          <a:prstGeom prst="rect">
            <a:avLst/>
          </a:prstGeom>
          <a:noFill/>
        </p:spPr>
        <p:txBody>
          <a:bodyPr wrap="square">
            <a:spAutoFit/>
          </a:bodyPr>
          <a:lstStyle/>
          <a:p>
            <a:pPr algn="l">
              <a:defRPr sz="3600" b="1">
                <a:solidFill>
                  <a:srgbClr val="FFFFFF"/>
                </a:solidFill>
                <a:latin typeface="Calibri"/>
              </a:defRPr>
            </a:pPr>
            <a:r>
              <a:t>PORTFOLIO &amp; RISK</a:t>
            </a:r>
          </a:p>
        </p:txBody>
      </p:sp>
      <p:sp>
        <p:nvSpPr>
          <p:cNvPr id="3" name="TextBox 2"/>
          <p:cNvSpPr txBox="1"/>
          <p:nvPr/>
        </p:nvSpPr>
        <p:spPr>
          <a:xfrm>
            <a:off x="731520" y="3474720"/>
            <a:ext cx="10728655" cy="548640"/>
          </a:xfrm>
          <a:prstGeom prst="rect">
            <a:avLst/>
          </a:prstGeom>
          <a:noFill/>
        </p:spPr>
        <p:txBody>
          <a:bodyPr wrap="square">
            <a:spAutoFit/>
          </a:bodyPr>
          <a:lstStyle/>
          <a:p>
            <a:pPr algn="l">
              <a:defRPr sz="1600" b="0">
                <a:solidFill>
                  <a:srgbClr val="778DA9"/>
                </a:solidFill>
                <a:latin typeface="Calibri"/>
              </a:defRPr>
            </a:pPr>
            <a:r>
              <a:t>How I structure trades and manage risk on a $250m book</a:t>
            </a:r>
          </a:p>
        </p:txBody>
      </p:sp>
      <p:sp>
        <p:nvSpPr>
          <p:cNvPr id="4" name="TextBox 3"/>
          <p:cNvSpPr txBox="1"/>
          <p:nvPr/>
        </p:nvSpPr>
        <p:spPr>
          <a:xfrm>
            <a:off x="731520" y="6400800"/>
            <a:ext cx="9144000" cy="274320"/>
          </a:xfrm>
          <a:prstGeom prst="rect">
            <a:avLst/>
          </a:prstGeom>
          <a:noFill/>
        </p:spPr>
        <p:txBody>
          <a:bodyPr wrap="square">
            <a:spAutoFit/>
          </a:bodyPr>
          <a:lstStyle/>
          <a:p>
            <a:pPr algn="l">
              <a:defRPr sz="800" b="0">
                <a:solidFill>
                  <a:srgbClr val="415A77"/>
                </a:solidFill>
                <a:latin typeface="Calibri"/>
              </a:defRPr>
            </a:pPr>
            <a:r>
              <a:t>BRUMMER &amp; PARTNERS PITCH  |  CONFIDENTIAL  |  2026-02-26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9144000" cy="457200"/>
          </a:xfrm>
          <a:prstGeom prst="rect">
            <a:avLst/>
          </a:prstGeom>
          <a:noFill/>
        </p:spPr>
        <p:txBody>
          <a:bodyPr wrap="square">
            <a:spAutoFit/>
          </a:bodyPr>
          <a:lstStyle/>
          <a:p>
            <a:pPr algn="l">
              <a:defRPr sz="2400" b="1">
                <a:solidFill>
                  <a:srgbClr val="FFFFFF"/>
                </a:solidFill>
                <a:latin typeface="Calibri"/>
              </a:defRPr>
            </a:pPr>
            <a:r>
              <a:t>PORTFOLIO CONSTRUCTION</a:t>
            </a:r>
          </a:p>
        </p:txBody>
      </p:sp>
      <p:sp>
        <p:nvSpPr>
          <p:cNvPr id="4" name="TextBox 3"/>
          <p:cNvSpPr txBox="1"/>
          <p:nvPr/>
        </p:nvSpPr>
        <p:spPr>
          <a:xfrm>
            <a:off x="731520" y="594360"/>
            <a:ext cx="9144000" cy="365760"/>
          </a:xfrm>
          <a:prstGeom prst="rect">
            <a:avLst/>
          </a:prstGeom>
          <a:noFill/>
        </p:spPr>
        <p:txBody>
          <a:bodyPr wrap="square">
            <a:spAutoFit/>
          </a:bodyPr>
          <a:lstStyle/>
          <a:p>
            <a:pPr algn="l">
              <a:defRPr sz="1300" b="0">
                <a:solidFill>
                  <a:srgbClr val="778DA9"/>
                </a:solidFill>
                <a:latin typeface="Calibri"/>
              </a:defRPr>
            </a:pPr>
            <a:r>
              <a:t>Example portfolio on $250m book -- live positions with risk metrics</a:t>
            </a:r>
          </a:p>
        </p:txBody>
      </p:sp>
      <p:sp>
        <p:nvSpPr>
          <p:cNvPr id="5" name="TextBox 4"/>
          <p:cNvSpPr txBox="1"/>
          <p:nvPr/>
        </p:nvSpPr>
        <p:spPr>
          <a:xfrm>
            <a:off x="9326880" y="228600"/>
            <a:ext cx="2560320" cy="365760"/>
          </a:xfrm>
          <a:prstGeom prst="rect">
            <a:avLst/>
          </a:prstGeom>
          <a:noFill/>
        </p:spPr>
        <p:txBody>
          <a:bodyPr wrap="square">
            <a:spAutoFit/>
          </a:bodyPr>
          <a:lstStyle/>
          <a:p>
            <a:pPr algn="r">
              <a:defRPr sz="1100" b="1">
                <a:solidFill>
                  <a:srgbClr val="3B82F6"/>
                </a:solidFill>
                <a:latin typeface="Calibri"/>
              </a:defRPr>
            </a:pPr>
            <a:r>
              <a:t>MACRO CREDIT MONITOR</a:t>
            </a:r>
          </a:p>
        </p:txBody>
      </p:sp>
      <p:sp>
        <p:nvSpPr>
          <p:cNvPr id="6" name="TextBox 5"/>
          <p:cNvSpPr txBox="1"/>
          <p:nvPr/>
        </p:nvSpPr>
        <p:spPr>
          <a:xfrm>
            <a:off x="731520" y="6400800"/>
            <a:ext cx="9144000" cy="274320"/>
          </a:xfrm>
          <a:prstGeom prst="rect">
            <a:avLst/>
          </a:prstGeom>
          <a:noFill/>
        </p:spPr>
        <p:txBody>
          <a:bodyPr wrap="square">
            <a:spAutoFit/>
          </a:bodyPr>
          <a:lstStyle/>
          <a:p>
            <a:pPr algn="l">
              <a:defRPr sz="800" b="0">
                <a:solidFill>
                  <a:srgbClr val="778DA9"/>
                </a:solidFill>
                <a:latin typeface="Calibri"/>
              </a:defRPr>
            </a:pPr>
            <a:r>
              <a:t>BRUMMER &amp; PARTNERS PITCH  |  CONFIDENTIAL  |  2026-02-26</a:t>
            </a:r>
          </a:p>
        </p:txBody>
      </p:sp>
      <p:graphicFrame>
        <p:nvGraphicFramePr>
          <p:cNvPr id="7" name="Table 6"/>
          <p:cNvGraphicFramePr>
            <a:graphicFrameLocks noGrp="1"/>
          </p:cNvGraphicFramePr>
          <p:nvPr/>
        </p:nvGraphicFramePr>
        <p:xfrm>
          <a:off x="731520" y="1371600"/>
          <a:ext cx="9235440" cy="3840480"/>
        </p:xfrm>
        <a:graphic>
          <a:graphicData uri="http://schemas.openxmlformats.org/drawingml/2006/table">
            <a:tbl>
              <a:tblPr firstRow="1" bandRow="1">
                <a:tableStyleId>{5C22544A-7EE6-4342-B048-85BDC9FD1C3A}</a:tableStyleId>
              </a:tblPr>
              <a:tblGrid>
                <a:gridCol w="1645920"/>
                <a:gridCol w="640080"/>
                <a:gridCol w="640080"/>
                <a:gridCol w="731520"/>
                <a:gridCol w="640080"/>
                <a:gridCol w="822960"/>
                <a:gridCol w="1097280"/>
                <a:gridCol w="822960"/>
                <a:gridCol w="1097280"/>
                <a:gridCol w="1097280"/>
              </a:tblGrid>
              <a:tr h="320040">
                <a:tc>
                  <a:txBody>
                    <a:bodyPr/>
                    <a:lstStyle/>
                    <a:p>
                      <a:pPr algn="ctr">
                        <a:defRPr sz="900" b="1">
                          <a:solidFill>
                            <a:srgbClr val="FFFFFF"/>
                          </a:solidFill>
                          <a:latin typeface="Calibri"/>
                        </a:defRPr>
                      </a:pPr>
                      <a:r>
                        <a:t>Name</a:t>
                      </a:r>
                    </a:p>
                  </a:txBody>
                  <a:tcPr>
                    <a:solidFill>
                      <a:srgbClr val="0D1B2A"/>
                    </a:solidFill>
                  </a:tcPr>
                </a:tc>
                <a:tc>
                  <a:txBody>
                    <a:bodyPr/>
                    <a:lstStyle/>
                    <a:p>
                      <a:pPr algn="ctr">
                        <a:defRPr sz="900" b="1">
                          <a:solidFill>
                            <a:srgbClr val="FFFFFF"/>
                          </a:solidFill>
                          <a:latin typeface="Calibri"/>
                        </a:defRPr>
                      </a:pPr>
                      <a:r>
                        <a:t>Dir</a:t>
                      </a:r>
                    </a:p>
                  </a:txBody>
                  <a:tcPr>
                    <a:solidFill>
                      <a:srgbClr val="0D1B2A"/>
                    </a:solidFill>
                  </a:tcPr>
                </a:tc>
                <a:tc>
                  <a:txBody>
                    <a:bodyPr/>
                    <a:lstStyle/>
                    <a:p>
                      <a:pPr algn="ctr">
                        <a:defRPr sz="900" b="1">
                          <a:solidFill>
                            <a:srgbClr val="FFFFFF"/>
                          </a:solidFill>
                          <a:latin typeface="Calibri"/>
                        </a:defRPr>
                      </a:pPr>
                      <a:r>
                        <a:t>Size %</a:t>
                      </a:r>
                    </a:p>
                  </a:txBody>
                  <a:tcPr>
                    <a:solidFill>
                      <a:srgbClr val="0D1B2A"/>
                    </a:solidFill>
                  </a:tcPr>
                </a:tc>
                <a:tc>
                  <a:txBody>
                    <a:bodyPr/>
                    <a:lstStyle/>
                    <a:p>
                      <a:pPr algn="ctr">
                        <a:defRPr sz="900" b="1">
                          <a:solidFill>
                            <a:srgbClr val="FFFFFF"/>
                          </a:solidFill>
                          <a:latin typeface="Calibri"/>
                        </a:defRPr>
                      </a:pPr>
                      <a:r>
                        <a:t>Notl $M</a:t>
                      </a:r>
                    </a:p>
                  </a:txBody>
                  <a:tcPr>
                    <a:solidFill>
                      <a:srgbClr val="0D1B2A"/>
                    </a:solidFill>
                  </a:tcPr>
                </a:tc>
                <a:tc>
                  <a:txBody>
                    <a:bodyPr/>
                    <a:lstStyle/>
                    <a:p>
                      <a:pPr algn="ctr">
                        <a:defRPr sz="900" b="1">
                          <a:solidFill>
                            <a:srgbClr val="FFFFFF"/>
                          </a:solidFill>
                          <a:latin typeface="Calibri"/>
                        </a:defRPr>
                      </a:pPr>
                      <a:r>
                        <a:t>Spread</a:t>
                      </a:r>
                    </a:p>
                  </a:txBody>
                  <a:tcPr>
                    <a:solidFill>
                      <a:srgbClr val="0D1B2A"/>
                    </a:solidFill>
                  </a:tcPr>
                </a:tc>
                <a:tc>
                  <a:txBody>
                    <a:bodyPr/>
                    <a:lstStyle/>
                    <a:p>
                      <a:pPr algn="ctr">
                        <a:defRPr sz="900" b="1">
                          <a:solidFill>
                            <a:srgbClr val="FFFFFF"/>
                          </a:solidFill>
                          <a:latin typeface="Calibri"/>
                        </a:defRPr>
                      </a:pPr>
                      <a:r>
                        <a:t>CS01</a:t>
                      </a:r>
                    </a:p>
                  </a:txBody>
                  <a:tcPr>
                    <a:solidFill>
                      <a:srgbClr val="0D1B2A"/>
                    </a:solidFill>
                  </a:tcPr>
                </a:tc>
                <a:tc>
                  <a:txBody>
                    <a:bodyPr/>
                    <a:lstStyle/>
                    <a:p>
                      <a:pPr algn="ctr">
                        <a:defRPr sz="900" b="1">
                          <a:solidFill>
                            <a:srgbClr val="FFFFFF"/>
                          </a:solidFill>
                          <a:latin typeface="Calibri"/>
                        </a:defRPr>
                      </a:pPr>
                      <a:r>
                        <a:t>JTD</a:t>
                      </a:r>
                    </a:p>
                  </a:txBody>
                  <a:tcPr>
                    <a:solidFill>
                      <a:srgbClr val="0D1B2A"/>
                    </a:solidFill>
                  </a:tcPr>
                </a:tc>
                <a:tc>
                  <a:txBody>
                    <a:bodyPr/>
                    <a:lstStyle/>
                    <a:p>
                      <a:pPr algn="ctr">
                        <a:defRPr sz="900" b="1">
                          <a:solidFill>
                            <a:srgbClr val="FFFFFF"/>
                          </a:solidFill>
                          <a:latin typeface="Calibri"/>
                        </a:defRPr>
                      </a:pPr>
                      <a:r>
                        <a:t>Carry p.a.</a:t>
                      </a:r>
                    </a:p>
                  </a:txBody>
                  <a:tcPr>
                    <a:solidFill>
                      <a:srgbClr val="0D1B2A"/>
                    </a:solidFill>
                  </a:tcPr>
                </a:tc>
                <a:tc>
                  <a:txBody>
                    <a:bodyPr/>
                    <a:lstStyle/>
                    <a:p>
                      <a:pPr algn="ctr">
                        <a:defRPr sz="900" b="1">
                          <a:solidFill>
                            <a:srgbClr val="FFFFFF"/>
                          </a:solidFill>
                          <a:latin typeface="Calibri"/>
                        </a:defRPr>
                      </a:pPr>
                      <a:r>
                        <a:t>Stress +100bp</a:t>
                      </a:r>
                    </a:p>
                  </a:txBody>
                  <a:tcPr>
                    <a:solidFill>
                      <a:srgbClr val="0D1B2A"/>
                    </a:solidFill>
                  </a:tcPr>
                </a:tc>
                <a:tc>
                  <a:txBody>
                    <a:bodyPr/>
                    <a:lstStyle/>
                    <a:p>
                      <a:pPr algn="ctr">
                        <a:defRPr sz="900" b="1">
                          <a:solidFill>
                            <a:srgbClr val="FFFFFF"/>
                          </a:solidFill>
                          <a:latin typeface="Calibri"/>
                        </a:defRPr>
                      </a:pPr>
                      <a:r>
                        <a:t>Stress +200bp</a:t>
                      </a:r>
                    </a:p>
                  </a:txBody>
                  <a:tcPr>
                    <a:solidFill>
                      <a:srgbClr val="0D1B2A"/>
                    </a:solidFill>
                  </a:tcPr>
                </a:tc>
              </a:tr>
              <a:tr h="320040">
                <a:tc>
                  <a:txBody>
                    <a:bodyPr/>
                    <a:lstStyle/>
                    <a:p>
                      <a:pPr algn="l">
                        <a:defRPr sz="800" b="0">
                          <a:solidFill>
                            <a:srgbClr val="212529"/>
                          </a:solidFill>
                          <a:latin typeface="Consolas"/>
                        </a:defRPr>
                      </a:pPr>
                      <a:r>
                        <a:t>CECONOMY</a:t>
                      </a:r>
                    </a:p>
                  </a:txBody>
                  <a:tcPr>
                    <a:solidFill>
                      <a:srgbClr val="F8F9FA"/>
                    </a:solidFill>
                  </a:tcPr>
                </a:tc>
                <a:tc>
                  <a:txBody>
                    <a:bodyPr/>
                    <a:lstStyle/>
                    <a:p>
                      <a:pPr algn="ctr">
                        <a:defRPr sz="800" b="0">
                          <a:solidFill>
                            <a:srgbClr val="28A745"/>
                          </a:solidFill>
                          <a:latin typeface="Consolas"/>
                        </a:defRPr>
                      </a:pPr>
                      <a:r>
                        <a:t>SHORT</a:t>
                      </a:r>
                    </a:p>
                  </a:txBody>
                  <a:tcPr>
                    <a:solidFill>
                      <a:srgbClr val="F8F9FA"/>
                    </a:solidFill>
                  </a:tcPr>
                </a:tc>
                <a:tc>
                  <a:txBody>
                    <a:bodyPr/>
                    <a:lstStyle/>
                    <a:p>
                      <a:pPr algn="ctr">
                        <a:defRPr sz="800" b="0">
                          <a:solidFill>
                            <a:srgbClr val="212529"/>
                          </a:solidFill>
                          <a:latin typeface="Consolas"/>
                        </a:defRPr>
                      </a:pPr>
                      <a:r>
                        <a:t>5.0</a:t>
                      </a:r>
                    </a:p>
                  </a:txBody>
                  <a:tcPr>
                    <a:solidFill>
                      <a:srgbClr val="F8F9FA"/>
                    </a:solidFill>
                  </a:tcPr>
                </a:tc>
                <a:tc>
                  <a:txBody>
                    <a:bodyPr/>
                    <a:lstStyle/>
                    <a:p>
                      <a:pPr algn="ctr">
                        <a:defRPr sz="800" b="0">
                          <a:solidFill>
                            <a:srgbClr val="212529"/>
                          </a:solidFill>
                          <a:latin typeface="Consolas"/>
                        </a:defRPr>
                      </a:pPr>
                      <a:r>
                        <a:t>25.0</a:t>
                      </a:r>
                    </a:p>
                  </a:txBody>
                  <a:tcPr>
                    <a:solidFill>
                      <a:srgbClr val="F8F9FA"/>
                    </a:solidFill>
                  </a:tcPr>
                </a:tc>
                <a:tc>
                  <a:txBody>
                    <a:bodyPr/>
                    <a:lstStyle/>
                    <a:p>
                      <a:pPr algn="ctr">
                        <a:defRPr sz="800" b="0">
                          <a:solidFill>
                            <a:srgbClr val="212529"/>
                          </a:solidFill>
                          <a:latin typeface="Consolas"/>
                        </a:defRPr>
                      </a:pPr>
                      <a:r>
                        <a:t>64</a:t>
                      </a:r>
                    </a:p>
                  </a:txBody>
                  <a:tcPr>
                    <a:solidFill>
                      <a:srgbClr val="F8F9FA"/>
                    </a:solidFill>
                  </a:tcPr>
                </a:tc>
                <a:tc>
                  <a:txBody>
                    <a:bodyPr/>
                    <a:lstStyle/>
                    <a:p>
                      <a:pPr algn="ctr">
                        <a:defRPr sz="800" b="0">
                          <a:solidFill>
                            <a:srgbClr val="212529"/>
                          </a:solidFill>
                          <a:latin typeface="Consolas"/>
                        </a:defRPr>
                      </a:pPr>
                      <a:r>
                        <a:t>11269</a:t>
                      </a:r>
                    </a:p>
                  </a:txBody>
                  <a:tcPr>
                    <a:solidFill>
                      <a:srgbClr val="F8F9FA"/>
                    </a:solidFill>
                  </a:tcPr>
                </a:tc>
                <a:tc>
                  <a:txBody>
                    <a:bodyPr/>
                    <a:lstStyle/>
                    <a:p>
                      <a:pPr algn="ctr">
                        <a:defRPr sz="800" b="0">
                          <a:solidFill>
                            <a:srgbClr val="212529"/>
                          </a:solidFill>
                          <a:latin typeface="Consolas"/>
                        </a:defRPr>
                      </a:pPr>
                      <a:r>
                        <a:t>-14980000</a:t>
                      </a:r>
                    </a:p>
                  </a:txBody>
                  <a:tcPr>
                    <a:solidFill>
                      <a:srgbClr val="F8F9FA"/>
                    </a:solidFill>
                  </a:tcPr>
                </a:tc>
                <a:tc>
                  <a:txBody>
                    <a:bodyPr/>
                    <a:lstStyle/>
                    <a:p>
                      <a:pPr algn="ctr">
                        <a:defRPr sz="800" b="0">
                          <a:solidFill>
                            <a:srgbClr val="212529"/>
                          </a:solidFill>
                          <a:latin typeface="Consolas"/>
                        </a:defRPr>
                      </a:pPr>
                      <a:r>
                        <a:t>+160000</a:t>
                      </a:r>
                    </a:p>
                  </a:txBody>
                  <a:tcPr>
                    <a:solidFill>
                      <a:srgbClr val="F8F9FA"/>
                    </a:solidFill>
                  </a:tcPr>
                </a:tc>
                <a:tc>
                  <a:txBody>
                    <a:bodyPr/>
                    <a:lstStyle/>
                    <a:p>
                      <a:pPr algn="ctr">
                        <a:defRPr sz="800" b="0">
                          <a:solidFill>
                            <a:srgbClr val="DC3545"/>
                          </a:solidFill>
                          <a:latin typeface="Consolas"/>
                        </a:defRPr>
                      </a:pPr>
                      <a:r>
                        <a:t>-1082737</a:t>
                      </a:r>
                    </a:p>
                  </a:txBody>
                  <a:tcPr>
                    <a:solidFill>
                      <a:srgbClr val="F8F9FA"/>
                    </a:solidFill>
                  </a:tcPr>
                </a:tc>
                <a:tc>
                  <a:txBody>
                    <a:bodyPr/>
                    <a:lstStyle/>
                    <a:p>
                      <a:pPr algn="ctr">
                        <a:defRPr sz="800" b="0">
                          <a:solidFill>
                            <a:srgbClr val="DC3545"/>
                          </a:solidFill>
                          <a:latin typeface="Consolas"/>
                        </a:defRPr>
                      </a:pPr>
                      <a:r>
                        <a:t>-2081856</a:t>
                      </a:r>
                    </a:p>
                  </a:txBody>
                  <a:tcPr>
                    <a:solidFill>
                      <a:srgbClr val="F8F9FA"/>
                    </a:solidFill>
                  </a:tcPr>
                </a:tc>
              </a:tr>
              <a:tr h="320040">
                <a:tc>
                  <a:txBody>
                    <a:bodyPr/>
                    <a:lstStyle/>
                    <a:p>
                      <a:pPr algn="l">
                        <a:defRPr sz="800" b="0">
                          <a:solidFill>
                            <a:srgbClr val="212529"/>
                          </a:solidFill>
                          <a:latin typeface="Consolas"/>
                        </a:defRPr>
                      </a:pPr>
                      <a:r>
                        <a:t>Kaixo Bondco</a:t>
                      </a:r>
                    </a:p>
                  </a:txBody>
                  <a:tcPr>
                    <a:solidFill>
                      <a:srgbClr val="FFFFFF"/>
                    </a:solidFill>
                  </a:tcPr>
                </a:tc>
                <a:tc>
                  <a:txBody>
                    <a:bodyPr/>
                    <a:lstStyle/>
                    <a:p>
                      <a:pPr algn="ctr">
                        <a:defRPr sz="800" b="0">
                          <a:solidFill>
                            <a:srgbClr val="28A745"/>
                          </a:solidFill>
                          <a:latin typeface="Consolas"/>
                        </a:defRPr>
                      </a:pPr>
                      <a:r>
                        <a:t>SHORT</a:t>
                      </a:r>
                    </a:p>
                  </a:txBody>
                  <a:tcPr>
                    <a:solidFill>
                      <a:srgbClr val="FFFFFF"/>
                    </a:solidFill>
                  </a:tcPr>
                </a:tc>
                <a:tc>
                  <a:txBody>
                    <a:bodyPr/>
                    <a:lstStyle/>
                    <a:p>
                      <a:pPr algn="ctr">
                        <a:defRPr sz="800" b="0">
                          <a:solidFill>
                            <a:srgbClr val="212529"/>
                          </a:solidFill>
                          <a:latin typeface="Consolas"/>
                        </a:defRPr>
                      </a:pPr>
                      <a:r>
                        <a:t>5.0</a:t>
                      </a:r>
                    </a:p>
                  </a:txBody>
                  <a:tcPr>
                    <a:solidFill>
                      <a:srgbClr val="FFFFFF"/>
                    </a:solidFill>
                  </a:tcPr>
                </a:tc>
                <a:tc>
                  <a:txBody>
                    <a:bodyPr/>
                    <a:lstStyle/>
                    <a:p>
                      <a:pPr algn="ctr">
                        <a:defRPr sz="800" b="0">
                          <a:solidFill>
                            <a:srgbClr val="212529"/>
                          </a:solidFill>
                          <a:latin typeface="Consolas"/>
                        </a:defRPr>
                      </a:pPr>
                      <a:r>
                        <a:t>25.0</a:t>
                      </a:r>
                    </a:p>
                  </a:txBody>
                  <a:tcPr>
                    <a:solidFill>
                      <a:srgbClr val="FFFFFF"/>
                    </a:solidFill>
                  </a:tcPr>
                </a:tc>
                <a:tc>
                  <a:txBody>
                    <a:bodyPr/>
                    <a:lstStyle/>
                    <a:p>
                      <a:pPr algn="ctr">
                        <a:defRPr sz="800" b="0">
                          <a:solidFill>
                            <a:srgbClr val="212529"/>
                          </a:solidFill>
                          <a:latin typeface="Consolas"/>
                        </a:defRPr>
                      </a:pPr>
                      <a:r>
                        <a:t>50</a:t>
                      </a:r>
                    </a:p>
                  </a:txBody>
                  <a:tcPr>
                    <a:solidFill>
                      <a:srgbClr val="FFFFFF"/>
                    </a:solidFill>
                  </a:tcPr>
                </a:tc>
                <a:tc>
                  <a:txBody>
                    <a:bodyPr/>
                    <a:lstStyle/>
                    <a:p>
                      <a:pPr algn="ctr">
                        <a:defRPr sz="800" b="0">
                          <a:solidFill>
                            <a:srgbClr val="212529"/>
                          </a:solidFill>
                          <a:latin typeface="Consolas"/>
                        </a:defRPr>
                      </a:pPr>
                      <a:r>
                        <a:t>11333</a:t>
                      </a:r>
                    </a:p>
                  </a:txBody>
                  <a:tcPr>
                    <a:solidFill>
                      <a:srgbClr val="FFFFFF"/>
                    </a:solidFill>
                  </a:tcPr>
                </a:tc>
                <a:tc>
                  <a:txBody>
                    <a:bodyPr/>
                    <a:lstStyle/>
                    <a:p>
                      <a:pPr algn="ctr">
                        <a:defRPr sz="800" b="0">
                          <a:solidFill>
                            <a:srgbClr val="212529"/>
                          </a:solidFill>
                          <a:latin typeface="Consolas"/>
                        </a:defRPr>
                      </a:pPr>
                      <a:r>
                        <a:t>-14984375</a:t>
                      </a:r>
                    </a:p>
                  </a:txBody>
                  <a:tcPr>
                    <a:solidFill>
                      <a:srgbClr val="FFFFFF"/>
                    </a:solidFill>
                  </a:tcPr>
                </a:tc>
                <a:tc>
                  <a:txBody>
                    <a:bodyPr/>
                    <a:lstStyle/>
                    <a:p>
                      <a:pPr algn="ctr">
                        <a:defRPr sz="800" b="0">
                          <a:solidFill>
                            <a:srgbClr val="212529"/>
                          </a:solidFill>
                          <a:latin typeface="Consolas"/>
                        </a:defRPr>
                      </a:pPr>
                      <a:r>
                        <a:t>+125000</a:t>
                      </a:r>
                    </a:p>
                  </a:txBody>
                  <a:tcPr>
                    <a:solidFill>
                      <a:srgbClr val="FFFFFF"/>
                    </a:solidFill>
                  </a:tcPr>
                </a:tc>
                <a:tc>
                  <a:txBody>
                    <a:bodyPr/>
                    <a:lstStyle/>
                    <a:p>
                      <a:pPr algn="ctr">
                        <a:defRPr sz="800" b="0">
                          <a:solidFill>
                            <a:srgbClr val="DC3545"/>
                          </a:solidFill>
                          <a:latin typeface="Consolas"/>
                        </a:defRPr>
                      </a:pPr>
                      <a:r>
                        <a:t>-1088773</a:t>
                      </a:r>
                    </a:p>
                  </a:txBody>
                  <a:tcPr>
                    <a:solidFill>
                      <a:srgbClr val="FFFFFF"/>
                    </a:solidFill>
                  </a:tcPr>
                </a:tc>
                <a:tc>
                  <a:txBody>
                    <a:bodyPr/>
                    <a:lstStyle/>
                    <a:p>
                      <a:pPr algn="ctr">
                        <a:defRPr sz="800" b="0">
                          <a:solidFill>
                            <a:srgbClr val="DC3545"/>
                          </a:solidFill>
                          <a:latin typeface="Consolas"/>
                        </a:defRPr>
                      </a:pPr>
                      <a:r>
                        <a:t>-2093293</a:t>
                      </a:r>
                    </a:p>
                  </a:txBody>
                  <a:tcPr>
                    <a:solidFill>
                      <a:srgbClr val="FFFFFF"/>
                    </a:solidFill>
                  </a:tcPr>
                </a:tc>
              </a:tr>
              <a:tr h="320040">
                <a:tc>
                  <a:txBody>
                    <a:bodyPr/>
                    <a:lstStyle/>
                    <a:p>
                      <a:pPr algn="l">
                        <a:defRPr sz="800" b="0">
                          <a:solidFill>
                            <a:srgbClr val="212529"/>
                          </a:solidFill>
                          <a:latin typeface="Consolas"/>
                        </a:defRPr>
                      </a:pPr>
                      <a:r>
                        <a:t>INEOS Quattro</a:t>
                      </a:r>
                    </a:p>
                  </a:txBody>
                  <a:tcPr>
                    <a:solidFill>
                      <a:srgbClr val="F8F9FA"/>
                    </a:solidFill>
                  </a:tcPr>
                </a:tc>
                <a:tc>
                  <a:txBody>
                    <a:bodyPr/>
                    <a:lstStyle/>
                    <a:p>
                      <a:pPr algn="ctr">
                        <a:defRPr sz="800" b="0">
                          <a:solidFill>
                            <a:srgbClr val="DC3545"/>
                          </a:solidFill>
                          <a:latin typeface="Consolas"/>
                        </a:defRPr>
                      </a:pPr>
                      <a:r>
                        <a:t>LONG</a:t>
                      </a:r>
                    </a:p>
                  </a:txBody>
                  <a:tcPr>
                    <a:solidFill>
                      <a:srgbClr val="F8F9FA"/>
                    </a:solidFill>
                  </a:tcPr>
                </a:tc>
                <a:tc>
                  <a:txBody>
                    <a:bodyPr/>
                    <a:lstStyle/>
                    <a:p>
                      <a:pPr algn="ctr">
                        <a:defRPr sz="800" b="0">
                          <a:solidFill>
                            <a:srgbClr val="212529"/>
                          </a:solidFill>
                          <a:latin typeface="Consolas"/>
                        </a:defRPr>
                      </a:pPr>
                      <a:r>
                        <a:t>2.0</a:t>
                      </a:r>
                    </a:p>
                  </a:txBody>
                  <a:tcPr>
                    <a:solidFill>
                      <a:srgbClr val="F8F9FA"/>
                    </a:solidFill>
                  </a:tcPr>
                </a:tc>
                <a:tc>
                  <a:txBody>
                    <a:bodyPr/>
                    <a:lstStyle/>
                    <a:p>
                      <a:pPr algn="ctr">
                        <a:defRPr sz="800" b="0">
                          <a:solidFill>
                            <a:srgbClr val="212529"/>
                          </a:solidFill>
                          <a:latin typeface="Consolas"/>
                        </a:defRPr>
                      </a:pPr>
                      <a:r>
                        <a:t>10.0</a:t>
                      </a:r>
                    </a:p>
                  </a:txBody>
                  <a:tcPr>
                    <a:solidFill>
                      <a:srgbClr val="F8F9FA"/>
                    </a:solidFill>
                  </a:tcPr>
                </a:tc>
                <a:tc>
                  <a:txBody>
                    <a:bodyPr/>
                    <a:lstStyle/>
                    <a:p>
                      <a:pPr algn="ctr">
                        <a:defRPr sz="800" b="0">
                          <a:solidFill>
                            <a:srgbClr val="212529"/>
                          </a:solidFill>
                          <a:latin typeface="Consolas"/>
                        </a:defRPr>
                      </a:pPr>
                      <a:r>
                        <a:t>1224</a:t>
                      </a:r>
                    </a:p>
                  </a:txBody>
                  <a:tcPr>
                    <a:solidFill>
                      <a:srgbClr val="F8F9FA"/>
                    </a:solidFill>
                  </a:tcPr>
                </a:tc>
                <a:tc>
                  <a:txBody>
                    <a:bodyPr/>
                    <a:lstStyle/>
                    <a:p>
                      <a:pPr algn="ctr">
                        <a:defRPr sz="800" b="0">
                          <a:solidFill>
                            <a:srgbClr val="212529"/>
                          </a:solidFill>
                          <a:latin typeface="Consolas"/>
                        </a:defRPr>
                      </a:pPr>
                      <a:r>
                        <a:t>2937</a:t>
                      </a:r>
                    </a:p>
                  </a:txBody>
                  <a:tcPr>
                    <a:solidFill>
                      <a:srgbClr val="F8F9FA"/>
                    </a:solidFill>
                  </a:tcPr>
                </a:tc>
                <a:tc>
                  <a:txBody>
                    <a:bodyPr/>
                    <a:lstStyle/>
                    <a:p>
                      <a:pPr algn="ctr">
                        <a:defRPr sz="800" b="0">
                          <a:solidFill>
                            <a:srgbClr val="212529"/>
                          </a:solidFill>
                          <a:latin typeface="Consolas"/>
                        </a:defRPr>
                      </a:pPr>
                      <a:r>
                        <a:t>+5847000</a:t>
                      </a:r>
                    </a:p>
                  </a:txBody>
                  <a:tcPr>
                    <a:solidFill>
                      <a:srgbClr val="F8F9FA"/>
                    </a:solidFill>
                  </a:tcPr>
                </a:tc>
                <a:tc>
                  <a:txBody>
                    <a:bodyPr/>
                    <a:lstStyle/>
                    <a:p>
                      <a:pPr algn="ctr">
                        <a:defRPr sz="800" b="0">
                          <a:solidFill>
                            <a:srgbClr val="212529"/>
                          </a:solidFill>
                          <a:latin typeface="Consolas"/>
                        </a:defRPr>
                      </a:pPr>
                      <a:r>
                        <a:t>-1224000</a:t>
                      </a:r>
                    </a:p>
                  </a:txBody>
                  <a:tcPr>
                    <a:solidFill>
                      <a:srgbClr val="F8F9FA"/>
                    </a:solidFill>
                  </a:tcPr>
                </a:tc>
                <a:tc>
                  <a:txBody>
                    <a:bodyPr/>
                    <a:lstStyle/>
                    <a:p>
                      <a:pPr algn="ctr">
                        <a:defRPr sz="800" b="0">
                          <a:solidFill>
                            <a:srgbClr val="28A745"/>
                          </a:solidFill>
                          <a:latin typeface="Consolas"/>
                        </a:defRPr>
                      </a:pPr>
                      <a:r>
                        <a:t>+284044</a:t>
                      </a:r>
                    </a:p>
                  </a:txBody>
                  <a:tcPr>
                    <a:solidFill>
                      <a:srgbClr val="F8F9FA"/>
                    </a:solidFill>
                  </a:tcPr>
                </a:tc>
                <a:tc>
                  <a:txBody>
                    <a:bodyPr/>
                    <a:lstStyle/>
                    <a:p>
                      <a:pPr algn="ctr">
                        <a:defRPr sz="800" b="0">
                          <a:solidFill>
                            <a:srgbClr val="28A745"/>
                          </a:solidFill>
                          <a:latin typeface="Consolas"/>
                        </a:defRPr>
                      </a:pPr>
                      <a:r>
                        <a:t>+549717</a:t>
                      </a:r>
                    </a:p>
                  </a:txBody>
                  <a:tcPr>
                    <a:solidFill>
                      <a:srgbClr val="F8F9FA"/>
                    </a:solidFill>
                  </a:tcPr>
                </a:tc>
              </a:tr>
              <a:tr h="320040">
                <a:tc>
                  <a:txBody>
                    <a:bodyPr/>
                    <a:lstStyle/>
                    <a:p>
                      <a:pPr algn="l">
                        <a:defRPr sz="800" b="0">
                          <a:solidFill>
                            <a:srgbClr val="212529"/>
                          </a:solidFill>
                          <a:latin typeface="Consolas"/>
                        </a:defRPr>
                      </a:pPr>
                      <a:r>
                        <a:t>Worldline</a:t>
                      </a:r>
                    </a:p>
                  </a:txBody>
                  <a:tcPr>
                    <a:solidFill>
                      <a:srgbClr val="FFFFFF"/>
                    </a:solidFill>
                  </a:tcPr>
                </a:tc>
                <a:tc>
                  <a:txBody>
                    <a:bodyPr/>
                    <a:lstStyle/>
                    <a:p>
                      <a:pPr algn="ctr">
                        <a:defRPr sz="800" b="0">
                          <a:solidFill>
                            <a:srgbClr val="DC3545"/>
                          </a:solidFill>
                          <a:latin typeface="Consolas"/>
                        </a:defRPr>
                      </a:pPr>
                      <a:r>
                        <a:t>LONG</a:t>
                      </a:r>
                    </a:p>
                  </a:txBody>
                  <a:tcPr>
                    <a:solidFill>
                      <a:srgbClr val="FFFFFF"/>
                    </a:solidFill>
                  </a:tcPr>
                </a:tc>
                <a:tc>
                  <a:txBody>
                    <a:bodyPr/>
                    <a:lstStyle/>
                    <a:p>
                      <a:pPr algn="ctr">
                        <a:defRPr sz="800" b="0">
                          <a:solidFill>
                            <a:srgbClr val="212529"/>
                          </a:solidFill>
                          <a:latin typeface="Consolas"/>
                        </a:defRPr>
                      </a:pPr>
                      <a:r>
                        <a:t>2.0</a:t>
                      </a:r>
                    </a:p>
                  </a:txBody>
                  <a:tcPr>
                    <a:solidFill>
                      <a:srgbClr val="FFFFFF"/>
                    </a:solidFill>
                  </a:tcPr>
                </a:tc>
                <a:tc>
                  <a:txBody>
                    <a:bodyPr/>
                    <a:lstStyle/>
                    <a:p>
                      <a:pPr algn="ctr">
                        <a:defRPr sz="800" b="0">
                          <a:solidFill>
                            <a:srgbClr val="212529"/>
                          </a:solidFill>
                          <a:latin typeface="Consolas"/>
                        </a:defRPr>
                      </a:pPr>
                      <a:r>
                        <a:t>10.0</a:t>
                      </a:r>
                    </a:p>
                  </a:txBody>
                  <a:tcPr>
                    <a:solidFill>
                      <a:srgbClr val="FFFFFF"/>
                    </a:solidFill>
                  </a:tcPr>
                </a:tc>
                <a:tc>
                  <a:txBody>
                    <a:bodyPr/>
                    <a:lstStyle/>
                    <a:p>
                      <a:pPr algn="ctr">
                        <a:defRPr sz="800" b="0">
                          <a:solidFill>
                            <a:srgbClr val="212529"/>
                          </a:solidFill>
                          <a:latin typeface="Consolas"/>
                        </a:defRPr>
                      </a:pPr>
                      <a:r>
                        <a:t>1027</a:t>
                      </a:r>
                    </a:p>
                  </a:txBody>
                  <a:tcPr>
                    <a:solidFill>
                      <a:srgbClr val="FFFFFF"/>
                    </a:solidFill>
                  </a:tcPr>
                </a:tc>
                <a:tc>
                  <a:txBody>
                    <a:bodyPr/>
                    <a:lstStyle/>
                    <a:p>
                      <a:pPr algn="ctr">
                        <a:defRPr sz="800" b="0">
                          <a:solidFill>
                            <a:srgbClr val="212529"/>
                          </a:solidFill>
                          <a:latin typeface="Consolas"/>
                        </a:defRPr>
                      </a:pPr>
                      <a:r>
                        <a:t>3142</a:t>
                      </a:r>
                    </a:p>
                  </a:txBody>
                  <a:tcPr>
                    <a:solidFill>
                      <a:srgbClr val="FFFFFF"/>
                    </a:solidFill>
                  </a:tcPr>
                </a:tc>
                <a:tc>
                  <a:txBody>
                    <a:bodyPr/>
                    <a:lstStyle/>
                    <a:p>
                      <a:pPr algn="ctr">
                        <a:defRPr sz="800" b="0">
                          <a:solidFill>
                            <a:srgbClr val="212529"/>
                          </a:solidFill>
                          <a:latin typeface="Consolas"/>
                        </a:defRPr>
                      </a:pPr>
                      <a:r>
                        <a:t>+5871625</a:t>
                      </a:r>
                    </a:p>
                  </a:txBody>
                  <a:tcPr>
                    <a:solidFill>
                      <a:srgbClr val="FFFFFF"/>
                    </a:solidFill>
                  </a:tcPr>
                </a:tc>
                <a:tc>
                  <a:txBody>
                    <a:bodyPr/>
                    <a:lstStyle/>
                    <a:p>
                      <a:pPr algn="ctr">
                        <a:defRPr sz="800" b="0">
                          <a:solidFill>
                            <a:srgbClr val="212529"/>
                          </a:solidFill>
                          <a:latin typeface="Consolas"/>
                        </a:defRPr>
                      </a:pPr>
                      <a:r>
                        <a:t>-1027000</a:t>
                      </a:r>
                    </a:p>
                  </a:txBody>
                  <a:tcPr>
                    <a:solidFill>
                      <a:srgbClr val="FFFFFF"/>
                    </a:solidFill>
                  </a:tcPr>
                </a:tc>
                <a:tc>
                  <a:txBody>
                    <a:bodyPr/>
                    <a:lstStyle/>
                    <a:p>
                      <a:pPr algn="ctr">
                        <a:defRPr sz="800" b="0">
                          <a:solidFill>
                            <a:srgbClr val="28A745"/>
                          </a:solidFill>
                          <a:latin typeface="Consolas"/>
                        </a:defRPr>
                      </a:pPr>
                      <a:r>
                        <a:t>+303525</a:t>
                      </a:r>
                    </a:p>
                  </a:txBody>
                  <a:tcPr>
                    <a:solidFill>
                      <a:srgbClr val="FFFFFF"/>
                    </a:solidFill>
                  </a:tcPr>
                </a:tc>
                <a:tc>
                  <a:txBody>
                    <a:bodyPr/>
                    <a:lstStyle/>
                    <a:p>
                      <a:pPr algn="ctr">
                        <a:defRPr sz="800" b="0">
                          <a:solidFill>
                            <a:srgbClr val="28A745"/>
                          </a:solidFill>
                          <a:latin typeface="Consolas"/>
                        </a:defRPr>
                      </a:pPr>
                      <a:r>
                        <a:t>+586794</a:t>
                      </a:r>
                    </a:p>
                  </a:txBody>
                  <a:tcPr>
                    <a:solidFill>
                      <a:srgbClr val="FFFFFF"/>
                    </a:solidFill>
                  </a:tcPr>
                </a:tc>
              </a:tr>
              <a:tr h="320040">
                <a:tc>
                  <a:txBody>
                    <a:bodyPr/>
                    <a:lstStyle/>
                    <a:p>
                      <a:pPr algn="l">
                        <a:defRPr sz="800" b="0">
                          <a:solidFill>
                            <a:srgbClr val="212529"/>
                          </a:solidFill>
                          <a:latin typeface="Consolas"/>
                        </a:defRPr>
                      </a:pPr>
                      <a:r>
                        <a:t>Sunrise HoldCo</a:t>
                      </a:r>
                    </a:p>
                  </a:txBody>
                  <a:tcPr>
                    <a:solidFill>
                      <a:srgbClr val="F8F9FA"/>
                    </a:solidFill>
                  </a:tcPr>
                </a:tc>
                <a:tc>
                  <a:txBody>
                    <a:bodyPr/>
                    <a:lstStyle/>
                    <a:p>
                      <a:pPr algn="ctr">
                        <a:defRPr sz="800" b="0">
                          <a:solidFill>
                            <a:srgbClr val="28A745"/>
                          </a:solidFill>
                          <a:latin typeface="Consolas"/>
                        </a:defRPr>
                      </a:pPr>
                      <a:r>
                        <a:t>SHORT</a:t>
                      </a:r>
                    </a:p>
                  </a:txBody>
                  <a:tcPr>
                    <a:solidFill>
                      <a:srgbClr val="F8F9FA"/>
                    </a:solidFill>
                  </a:tcPr>
                </a:tc>
                <a:tc>
                  <a:txBody>
                    <a:bodyPr/>
                    <a:lstStyle/>
                    <a:p>
                      <a:pPr algn="ctr">
                        <a:defRPr sz="800" b="0">
                          <a:solidFill>
                            <a:srgbClr val="212529"/>
                          </a:solidFill>
                          <a:latin typeface="Consolas"/>
                        </a:defRPr>
                      </a:pPr>
                      <a:r>
                        <a:t>4.5</a:t>
                      </a:r>
                    </a:p>
                  </a:txBody>
                  <a:tcPr>
                    <a:solidFill>
                      <a:srgbClr val="F8F9FA"/>
                    </a:solidFill>
                  </a:tcPr>
                </a:tc>
                <a:tc>
                  <a:txBody>
                    <a:bodyPr/>
                    <a:lstStyle/>
                    <a:p>
                      <a:pPr algn="ctr">
                        <a:defRPr sz="800" b="0">
                          <a:solidFill>
                            <a:srgbClr val="212529"/>
                          </a:solidFill>
                          <a:latin typeface="Consolas"/>
                        </a:defRPr>
                      </a:pPr>
                      <a:r>
                        <a:t>22.5</a:t>
                      </a:r>
                    </a:p>
                  </a:txBody>
                  <a:tcPr>
                    <a:solidFill>
                      <a:srgbClr val="F8F9FA"/>
                    </a:solidFill>
                  </a:tcPr>
                </a:tc>
                <a:tc>
                  <a:txBody>
                    <a:bodyPr/>
                    <a:lstStyle/>
                    <a:p>
                      <a:pPr algn="ctr">
                        <a:defRPr sz="800" b="0">
                          <a:solidFill>
                            <a:srgbClr val="212529"/>
                          </a:solidFill>
                          <a:latin typeface="Consolas"/>
                        </a:defRPr>
                      </a:pPr>
                      <a:r>
                        <a:t>75</a:t>
                      </a:r>
                    </a:p>
                  </a:txBody>
                  <a:tcPr>
                    <a:solidFill>
                      <a:srgbClr val="F8F9FA"/>
                    </a:solidFill>
                  </a:tcPr>
                </a:tc>
                <a:tc>
                  <a:txBody>
                    <a:bodyPr/>
                    <a:lstStyle/>
                    <a:p>
                      <a:pPr algn="ctr">
                        <a:defRPr sz="800" b="0">
                          <a:solidFill>
                            <a:srgbClr val="212529"/>
                          </a:solidFill>
                          <a:latin typeface="Consolas"/>
                        </a:defRPr>
                      </a:pPr>
                      <a:r>
                        <a:t>10097</a:t>
                      </a:r>
                    </a:p>
                  </a:txBody>
                  <a:tcPr>
                    <a:solidFill>
                      <a:srgbClr val="F8F9FA"/>
                    </a:solidFill>
                  </a:tcPr>
                </a:tc>
                <a:tc>
                  <a:txBody>
                    <a:bodyPr/>
                    <a:lstStyle/>
                    <a:p>
                      <a:pPr algn="ctr">
                        <a:defRPr sz="800" b="0">
                          <a:solidFill>
                            <a:srgbClr val="212529"/>
                          </a:solidFill>
                          <a:latin typeface="Consolas"/>
                        </a:defRPr>
                      </a:pPr>
                      <a:r>
                        <a:t>-13478906</a:t>
                      </a:r>
                    </a:p>
                  </a:txBody>
                  <a:tcPr>
                    <a:solidFill>
                      <a:srgbClr val="F8F9FA"/>
                    </a:solidFill>
                  </a:tcPr>
                </a:tc>
                <a:tc>
                  <a:txBody>
                    <a:bodyPr/>
                    <a:lstStyle/>
                    <a:p>
                      <a:pPr algn="ctr">
                        <a:defRPr sz="800" b="0">
                          <a:solidFill>
                            <a:srgbClr val="212529"/>
                          </a:solidFill>
                          <a:latin typeface="Consolas"/>
                        </a:defRPr>
                      </a:pPr>
                      <a:r>
                        <a:t>+168750</a:t>
                      </a:r>
                    </a:p>
                  </a:txBody>
                  <a:tcPr>
                    <a:solidFill>
                      <a:srgbClr val="F8F9FA"/>
                    </a:solidFill>
                  </a:tcPr>
                </a:tc>
                <a:tc>
                  <a:txBody>
                    <a:bodyPr/>
                    <a:lstStyle/>
                    <a:p>
                      <a:pPr algn="ctr">
                        <a:defRPr sz="800" b="0">
                          <a:solidFill>
                            <a:srgbClr val="DC3545"/>
                          </a:solidFill>
                          <a:latin typeface="Consolas"/>
                        </a:defRPr>
                      </a:pPr>
                      <a:r>
                        <a:t>-970224</a:t>
                      </a:r>
                    </a:p>
                  </a:txBody>
                  <a:tcPr>
                    <a:solidFill>
                      <a:srgbClr val="F8F9FA"/>
                    </a:solidFill>
                  </a:tcPr>
                </a:tc>
                <a:tc>
                  <a:txBody>
                    <a:bodyPr/>
                    <a:lstStyle/>
                    <a:p>
                      <a:pPr algn="ctr">
                        <a:defRPr sz="800" b="0">
                          <a:solidFill>
                            <a:srgbClr val="DC3545"/>
                          </a:solidFill>
                          <a:latin typeface="Consolas"/>
                        </a:defRPr>
                      </a:pPr>
                      <a:r>
                        <a:t>-1865638</a:t>
                      </a:r>
                    </a:p>
                  </a:txBody>
                  <a:tcPr>
                    <a:solidFill>
                      <a:srgbClr val="F8F9FA"/>
                    </a:solidFill>
                  </a:tcPr>
                </a:tc>
              </a:tr>
              <a:tr h="320040">
                <a:tc>
                  <a:txBody>
                    <a:bodyPr/>
                    <a:lstStyle/>
                    <a:p>
                      <a:pPr algn="l">
                        <a:defRPr sz="800" b="0">
                          <a:solidFill>
                            <a:srgbClr val="212529"/>
                          </a:solidFill>
                          <a:latin typeface="Consolas"/>
                        </a:defRPr>
                      </a:pPr>
                      <a:r>
                        <a:t>Syngenta</a:t>
                      </a:r>
                    </a:p>
                  </a:txBody>
                  <a:tcPr>
                    <a:solidFill>
                      <a:srgbClr val="FFFFFF"/>
                    </a:solidFill>
                  </a:tcPr>
                </a:tc>
                <a:tc>
                  <a:txBody>
                    <a:bodyPr/>
                    <a:lstStyle/>
                    <a:p>
                      <a:pPr algn="ctr">
                        <a:defRPr sz="800" b="0">
                          <a:solidFill>
                            <a:srgbClr val="28A745"/>
                          </a:solidFill>
                          <a:latin typeface="Consolas"/>
                        </a:defRPr>
                      </a:pPr>
                      <a:r>
                        <a:t>SHORT</a:t>
                      </a:r>
                    </a:p>
                  </a:txBody>
                  <a:tcPr>
                    <a:solidFill>
                      <a:srgbClr val="FFFFFF"/>
                    </a:solidFill>
                  </a:tcPr>
                </a:tc>
                <a:tc>
                  <a:txBody>
                    <a:bodyPr/>
                    <a:lstStyle/>
                    <a:p>
                      <a:pPr algn="ctr">
                        <a:defRPr sz="800" b="0">
                          <a:solidFill>
                            <a:srgbClr val="212529"/>
                          </a:solidFill>
                          <a:latin typeface="Consolas"/>
                        </a:defRPr>
                      </a:pPr>
                      <a:r>
                        <a:t>4.0</a:t>
                      </a:r>
                    </a:p>
                  </a:txBody>
                  <a:tcPr>
                    <a:solidFill>
                      <a:srgbClr val="FFFFFF"/>
                    </a:solidFill>
                  </a:tcPr>
                </a:tc>
                <a:tc>
                  <a:txBody>
                    <a:bodyPr/>
                    <a:lstStyle/>
                    <a:p>
                      <a:pPr algn="ctr">
                        <a:defRPr sz="800" b="0">
                          <a:solidFill>
                            <a:srgbClr val="212529"/>
                          </a:solidFill>
                          <a:latin typeface="Consolas"/>
                        </a:defRPr>
                      </a:pPr>
                      <a:r>
                        <a:t>20.0</a:t>
                      </a:r>
                    </a:p>
                  </a:txBody>
                  <a:tcPr>
                    <a:solidFill>
                      <a:srgbClr val="FFFFFF"/>
                    </a:solidFill>
                  </a:tcPr>
                </a:tc>
                <a:tc>
                  <a:txBody>
                    <a:bodyPr/>
                    <a:lstStyle/>
                    <a:p>
                      <a:pPr algn="ctr">
                        <a:defRPr sz="800" b="0">
                          <a:solidFill>
                            <a:srgbClr val="212529"/>
                          </a:solidFill>
                          <a:latin typeface="Consolas"/>
                        </a:defRPr>
                      </a:pPr>
                      <a:r>
                        <a:t>90</a:t>
                      </a:r>
                    </a:p>
                  </a:txBody>
                  <a:tcPr>
                    <a:solidFill>
                      <a:srgbClr val="FFFFFF"/>
                    </a:solidFill>
                  </a:tcPr>
                </a:tc>
                <a:tc>
                  <a:txBody>
                    <a:bodyPr/>
                    <a:lstStyle/>
                    <a:p>
                      <a:pPr algn="ctr">
                        <a:defRPr sz="800" b="0">
                          <a:solidFill>
                            <a:srgbClr val="212529"/>
                          </a:solidFill>
                          <a:latin typeface="Consolas"/>
                        </a:defRPr>
                      </a:pPr>
                      <a:r>
                        <a:t>8921</a:t>
                      </a:r>
                    </a:p>
                  </a:txBody>
                  <a:tcPr>
                    <a:solidFill>
                      <a:srgbClr val="FFFFFF"/>
                    </a:solidFill>
                  </a:tcPr>
                </a:tc>
                <a:tc>
                  <a:txBody>
                    <a:bodyPr/>
                    <a:lstStyle/>
                    <a:p>
                      <a:pPr algn="ctr">
                        <a:defRPr sz="800" b="0">
                          <a:solidFill>
                            <a:srgbClr val="212529"/>
                          </a:solidFill>
                          <a:latin typeface="Consolas"/>
                        </a:defRPr>
                      </a:pPr>
                      <a:r>
                        <a:t>-11977500</a:t>
                      </a:r>
                    </a:p>
                  </a:txBody>
                  <a:tcPr>
                    <a:solidFill>
                      <a:srgbClr val="FFFFFF"/>
                    </a:solidFill>
                  </a:tcPr>
                </a:tc>
                <a:tc>
                  <a:txBody>
                    <a:bodyPr/>
                    <a:lstStyle/>
                    <a:p>
                      <a:pPr algn="ctr">
                        <a:defRPr sz="800" b="0">
                          <a:solidFill>
                            <a:srgbClr val="212529"/>
                          </a:solidFill>
                          <a:latin typeface="Consolas"/>
                        </a:defRPr>
                      </a:pPr>
                      <a:r>
                        <a:t>+180000</a:t>
                      </a:r>
                    </a:p>
                  </a:txBody>
                  <a:tcPr>
                    <a:solidFill>
                      <a:srgbClr val="FFFFFF"/>
                    </a:solidFill>
                  </a:tcPr>
                </a:tc>
                <a:tc>
                  <a:txBody>
                    <a:bodyPr/>
                    <a:lstStyle/>
                    <a:p>
                      <a:pPr algn="ctr">
                        <a:defRPr sz="800" b="0">
                          <a:solidFill>
                            <a:srgbClr val="DC3545"/>
                          </a:solidFill>
                          <a:latin typeface="Consolas"/>
                        </a:defRPr>
                      </a:pPr>
                      <a:r>
                        <a:t>-857319</a:t>
                      </a:r>
                    </a:p>
                  </a:txBody>
                  <a:tcPr>
                    <a:solidFill>
                      <a:srgbClr val="FFFFFF"/>
                    </a:solidFill>
                  </a:tcPr>
                </a:tc>
                <a:tc>
                  <a:txBody>
                    <a:bodyPr/>
                    <a:lstStyle/>
                    <a:p>
                      <a:pPr algn="ctr">
                        <a:defRPr sz="800" b="0">
                          <a:solidFill>
                            <a:srgbClr val="DC3545"/>
                          </a:solidFill>
                          <a:latin typeface="Consolas"/>
                        </a:defRPr>
                      </a:pPr>
                      <a:r>
                        <a:t>-1648676</a:t>
                      </a:r>
                    </a:p>
                  </a:txBody>
                  <a:tcPr>
                    <a:solidFill>
                      <a:srgbClr val="FFFFFF"/>
                    </a:solidFill>
                  </a:tcPr>
                </a:tc>
              </a:tr>
              <a:tr h="320040">
                <a:tc>
                  <a:txBody>
                    <a:bodyPr/>
                    <a:lstStyle/>
                    <a:p>
                      <a:pPr algn="l">
                        <a:defRPr sz="800" b="0">
                          <a:solidFill>
                            <a:srgbClr val="212529"/>
                          </a:solidFill>
                          <a:latin typeface="Consolas"/>
                        </a:defRPr>
                      </a:pPr>
                      <a:r>
                        <a:t>Cirsa Finance</a:t>
                      </a:r>
                    </a:p>
                  </a:txBody>
                  <a:tcPr>
                    <a:solidFill>
                      <a:srgbClr val="F8F9FA"/>
                    </a:solidFill>
                  </a:tcPr>
                </a:tc>
                <a:tc>
                  <a:txBody>
                    <a:bodyPr/>
                    <a:lstStyle/>
                    <a:p>
                      <a:pPr algn="ctr">
                        <a:defRPr sz="800" b="0">
                          <a:solidFill>
                            <a:srgbClr val="28A745"/>
                          </a:solidFill>
                          <a:latin typeface="Consolas"/>
                        </a:defRPr>
                      </a:pPr>
                      <a:r>
                        <a:t>SHORT</a:t>
                      </a:r>
                    </a:p>
                  </a:txBody>
                  <a:tcPr>
                    <a:solidFill>
                      <a:srgbClr val="F8F9FA"/>
                    </a:solidFill>
                  </a:tcPr>
                </a:tc>
                <a:tc>
                  <a:txBody>
                    <a:bodyPr/>
                    <a:lstStyle/>
                    <a:p>
                      <a:pPr algn="ctr">
                        <a:defRPr sz="800" b="0">
                          <a:solidFill>
                            <a:srgbClr val="212529"/>
                          </a:solidFill>
                          <a:latin typeface="Consolas"/>
                        </a:defRPr>
                      </a:pPr>
                      <a:r>
                        <a:t>3.5</a:t>
                      </a:r>
                    </a:p>
                  </a:txBody>
                  <a:tcPr>
                    <a:solidFill>
                      <a:srgbClr val="F8F9FA"/>
                    </a:solidFill>
                  </a:tcPr>
                </a:tc>
                <a:tc>
                  <a:txBody>
                    <a:bodyPr/>
                    <a:lstStyle/>
                    <a:p>
                      <a:pPr algn="ctr">
                        <a:defRPr sz="800" b="0">
                          <a:solidFill>
                            <a:srgbClr val="212529"/>
                          </a:solidFill>
                          <a:latin typeface="Consolas"/>
                        </a:defRPr>
                      </a:pPr>
                      <a:r>
                        <a:t>17.5</a:t>
                      </a:r>
                    </a:p>
                  </a:txBody>
                  <a:tcPr>
                    <a:solidFill>
                      <a:srgbClr val="F8F9FA"/>
                    </a:solidFill>
                  </a:tcPr>
                </a:tc>
                <a:tc>
                  <a:txBody>
                    <a:bodyPr/>
                    <a:lstStyle/>
                    <a:p>
                      <a:pPr algn="ctr">
                        <a:defRPr sz="800" b="0">
                          <a:solidFill>
                            <a:srgbClr val="212529"/>
                          </a:solidFill>
                          <a:latin typeface="Consolas"/>
                        </a:defRPr>
                      </a:pPr>
                      <a:r>
                        <a:t>200</a:t>
                      </a:r>
                    </a:p>
                  </a:txBody>
                  <a:tcPr>
                    <a:solidFill>
                      <a:srgbClr val="F8F9FA"/>
                    </a:solidFill>
                  </a:tcPr>
                </a:tc>
                <a:tc>
                  <a:txBody>
                    <a:bodyPr/>
                    <a:lstStyle/>
                    <a:p>
                      <a:pPr algn="ctr">
                        <a:defRPr sz="800" b="0">
                          <a:solidFill>
                            <a:srgbClr val="212529"/>
                          </a:solidFill>
                          <a:latin typeface="Consolas"/>
                        </a:defRPr>
                      </a:pPr>
                      <a:r>
                        <a:t>7472</a:t>
                      </a:r>
                    </a:p>
                  </a:txBody>
                  <a:tcPr>
                    <a:solidFill>
                      <a:srgbClr val="F8F9FA"/>
                    </a:solidFill>
                  </a:tcPr>
                </a:tc>
                <a:tc>
                  <a:txBody>
                    <a:bodyPr/>
                    <a:lstStyle/>
                    <a:p>
                      <a:pPr algn="ctr">
                        <a:defRPr sz="800" b="0">
                          <a:solidFill>
                            <a:srgbClr val="212529"/>
                          </a:solidFill>
                          <a:latin typeface="Consolas"/>
                        </a:defRPr>
                      </a:pPr>
                      <a:r>
                        <a:t>-10456250</a:t>
                      </a:r>
                    </a:p>
                  </a:txBody>
                  <a:tcPr>
                    <a:solidFill>
                      <a:srgbClr val="F8F9FA"/>
                    </a:solidFill>
                  </a:tcPr>
                </a:tc>
                <a:tc>
                  <a:txBody>
                    <a:bodyPr/>
                    <a:lstStyle/>
                    <a:p>
                      <a:pPr algn="ctr">
                        <a:defRPr sz="800" b="0">
                          <a:solidFill>
                            <a:srgbClr val="212529"/>
                          </a:solidFill>
                          <a:latin typeface="Consolas"/>
                        </a:defRPr>
                      </a:pPr>
                      <a:r>
                        <a:t>+350000</a:t>
                      </a:r>
                    </a:p>
                  </a:txBody>
                  <a:tcPr>
                    <a:solidFill>
                      <a:srgbClr val="F8F9FA"/>
                    </a:solidFill>
                  </a:tcPr>
                </a:tc>
                <a:tc>
                  <a:txBody>
                    <a:bodyPr/>
                    <a:lstStyle/>
                    <a:p>
                      <a:pPr algn="ctr">
                        <a:defRPr sz="800" b="0">
                          <a:solidFill>
                            <a:srgbClr val="DC3545"/>
                          </a:solidFill>
                          <a:latin typeface="Consolas"/>
                        </a:defRPr>
                      </a:pPr>
                      <a:r>
                        <a:t>-718494</a:t>
                      </a:r>
                    </a:p>
                  </a:txBody>
                  <a:tcPr>
                    <a:solidFill>
                      <a:srgbClr val="F8F9FA"/>
                    </a:solidFill>
                  </a:tcPr>
                </a:tc>
                <a:tc>
                  <a:txBody>
                    <a:bodyPr/>
                    <a:lstStyle/>
                    <a:p>
                      <a:pPr algn="ctr">
                        <a:defRPr sz="800" b="0">
                          <a:solidFill>
                            <a:srgbClr val="DC3545"/>
                          </a:solidFill>
                          <a:latin typeface="Consolas"/>
                        </a:defRPr>
                      </a:pPr>
                      <a:r>
                        <a:t>-1382586</a:t>
                      </a:r>
                    </a:p>
                  </a:txBody>
                  <a:tcPr>
                    <a:solidFill>
                      <a:srgbClr val="F8F9FA"/>
                    </a:solidFill>
                  </a:tcPr>
                </a:tc>
              </a:tr>
              <a:tr h="320040">
                <a:tc>
                  <a:txBody>
                    <a:bodyPr/>
                    <a:lstStyle/>
                    <a:p>
                      <a:pPr algn="l">
                        <a:defRPr sz="800" b="0">
                          <a:solidFill>
                            <a:srgbClr val="212529"/>
                          </a:solidFill>
                          <a:latin typeface="Consolas"/>
                        </a:defRPr>
                      </a:pPr>
                      <a:r>
                        <a:t>INEOS Finance</a:t>
                      </a:r>
                    </a:p>
                  </a:txBody>
                  <a:tcPr>
                    <a:solidFill>
                      <a:srgbClr val="FFFFFF"/>
                    </a:solidFill>
                  </a:tcPr>
                </a:tc>
                <a:tc>
                  <a:txBody>
                    <a:bodyPr/>
                    <a:lstStyle/>
                    <a:p>
                      <a:pPr algn="ctr">
                        <a:defRPr sz="800" b="0">
                          <a:solidFill>
                            <a:srgbClr val="DC3545"/>
                          </a:solidFill>
                          <a:latin typeface="Consolas"/>
                        </a:defRPr>
                      </a:pPr>
                      <a:r>
                        <a:t>LONG</a:t>
                      </a:r>
                    </a:p>
                  </a:txBody>
                  <a:tcPr>
                    <a:solidFill>
                      <a:srgbClr val="FFFFFF"/>
                    </a:solidFill>
                  </a:tcPr>
                </a:tc>
                <a:tc>
                  <a:txBody>
                    <a:bodyPr/>
                    <a:lstStyle/>
                    <a:p>
                      <a:pPr algn="ctr">
                        <a:defRPr sz="800" b="0">
                          <a:solidFill>
                            <a:srgbClr val="212529"/>
                          </a:solidFill>
                          <a:latin typeface="Consolas"/>
                        </a:defRPr>
                      </a:pPr>
                      <a:r>
                        <a:t>1.5</a:t>
                      </a:r>
                    </a:p>
                  </a:txBody>
                  <a:tcPr>
                    <a:solidFill>
                      <a:srgbClr val="FFFFFF"/>
                    </a:solidFill>
                  </a:tcPr>
                </a:tc>
                <a:tc>
                  <a:txBody>
                    <a:bodyPr/>
                    <a:lstStyle/>
                    <a:p>
                      <a:pPr algn="ctr">
                        <a:defRPr sz="800" b="0">
                          <a:solidFill>
                            <a:srgbClr val="212529"/>
                          </a:solidFill>
                          <a:latin typeface="Consolas"/>
                        </a:defRPr>
                      </a:pPr>
                      <a:r>
                        <a:t>7.5</a:t>
                      </a:r>
                    </a:p>
                  </a:txBody>
                  <a:tcPr>
                    <a:solidFill>
                      <a:srgbClr val="FFFFFF"/>
                    </a:solidFill>
                  </a:tcPr>
                </a:tc>
                <a:tc>
                  <a:txBody>
                    <a:bodyPr/>
                    <a:lstStyle/>
                    <a:p>
                      <a:pPr algn="ctr">
                        <a:defRPr sz="800" b="0">
                          <a:solidFill>
                            <a:srgbClr val="212529"/>
                          </a:solidFill>
                          <a:latin typeface="Consolas"/>
                        </a:defRPr>
                      </a:pPr>
                      <a:r>
                        <a:t>908</a:t>
                      </a:r>
                    </a:p>
                  </a:txBody>
                  <a:tcPr>
                    <a:solidFill>
                      <a:srgbClr val="FFFFFF"/>
                    </a:solidFill>
                  </a:tcPr>
                </a:tc>
                <a:tc>
                  <a:txBody>
                    <a:bodyPr/>
                    <a:lstStyle/>
                    <a:p>
                      <a:pPr algn="ctr">
                        <a:defRPr sz="800" b="0">
                          <a:solidFill>
                            <a:srgbClr val="212529"/>
                          </a:solidFill>
                          <a:latin typeface="Consolas"/>
                        </a:defRPr>
                      </a:pPr>
                      <a:r>
                        <a:t>2457</a:t>
                      </a:r>
                    </a:p>
                  </a:txBody>
                  <a:tcPr>
                    <a:solidFill>
                      <a:srgbClr val="FFFFFF"/>
                    </a:solidFill>
                  </a:tcPr>
                </a:tc>
                <a:tc>
                  <a:txBody>
                    <a:bodyPr/>
                    <a:lstStyle/>
                    <a:p>
                      <a:pPr algn="ctr">
                        <a:defRPr sz="800" b="0">
                          <a:solidFill>
                            <a:srgbClr val="212529"/>
                          </a:solidFill>
                          <a:latin typeface="Consolas"/>
                        </a:defRPr>
                      </a:pPr>
                      <a:r>
                        <a:t>+4414875</a:t>
                      </a:r>
                    </a:p>
                  </a:txBody>
                  <a:tcPr>
                    <a:solidFill>
                      <a:srgbClr val="FFFFFF"/>
                    </a:solidFill>
                  </a:tcPr>
                </a:tc>
                <a:tc>
                  <a:txBody>
                    <a:bodyPr/>
                    <a:lstStyle/>
                    <a:p>
                      <a:pPr algn="ctr">
                        <a:defRPr sz="800" b="0">
                          <a:solidFill>
                            <a:srgbClr val="212529"/>
                          </a:solidFill>
                          <a:latin typeface="Consolas"/>
                        </a:defRPr>
                      </a:pPr>
                      <a:r>
                        <a:t>-681000</a:t>
                      </a:r>
                    </a:p>
                  </a:txBody>
                  <a:tcPr>
                    <a:solidFill>
                      <a:srgbClr val="FFFFFF"/>
                    </a:solidFill>
                  </a:tcPr>
                </a:tc>
                <a:tc>
                  <a:txBody>
                    <a:bodyPr/>
                    <a:lstStyle/>
                    <a:p>
                      <a:pPr algn="ctr">
                        <a:defRPr sz="800" b="0">
                          <a:solidFill>
                            <a:srgbClr val="28A745"/>
                          </a:solidFill>
                          <a:latin typeface="Consolas"/>
                        </a:defRPr>
                      </a:pPr>
                      <a:r>
                        <a:t>+237195</a:t>
                      </a:r>
                    </a:p>
                  </a:txBody>
                  <a:tcPr>
                    <a:solidFill>
                      <a:srgbClr val="FFFFFF"/>
                    </a:solidFill>
                  </a:tcPr>
                </a:tc>
                <a:tc>
                  <a:txBody>
                    <a:bodyPr/>
                    <a:lstStyle/>
                    <a:p>
                      <a:pPr algn="ctr">
                        <a:defRPr sz="800" b="0">
                          <a:solidFill>
                            <a:srgbClr val="28A745"/>
                          </a:solidFill>
                          <a:latin typeface="Consolas"/>
                        </a:defRPr>
                      </a:pPr>
                      <a:r>
                        <a:t>+458261</a:t>
                      </a:r>
                    </a:p>
                  </a:txBody>
                  <a:tcPr>
                    <a:solidFill>
                      <a:srgbClr val="FFFFFF"/>
                    </a:solidFill>
                  </a:tcPr>
                </a:tc>
              </a:tr>
              <a:tr h="320040">
                <a:tc>
                  <a:txBody>
                    <a:bodyPr/>
                    <a:lstStyle/>
                    <a:p>
                      <a:pPr algn="l">
                        <a:defRPr sz="800" b="0">
                          <a:solidFill>
                            <a:srgbClr val="212529"/>
                          </a:solidFill>
                          <a:latin typeface="Consolas"/>
                        </a:defRPr>
                      </a:pPr>
                      <a:r>
                        <a:t>Eutelsat</a:t>
                      </a:r>
                    </a:p>
                  </a:txBody>
                  <a:tcPr>
                    <a:solidFill>
                      <a:srgbClr val="F8F9FA"/>
                    </a:solidFill>
                  </a:tcPr>
                </a:tc>
                <a:tc>
                  <a:txBody>
                    <a:bodyPr/>
                    <a:lstStyle/>
                    <a:p>
                      <a:pPr algn="ctr">
                        <a:defRPr sz="800" b="0">
                          <a:solidFill>
                            <a:srgbClr val="28A745"/>
                          </a:solidFill>
                          <a:latin typeface="Consolas"/>
                        </a:defRPr>
                      </a:pPr>
                      <a:r>
                        <a:t>SHORT</a:t>
                      </a:r>
                    </a:p>
                  </a:txBody>
                  <a:tcPr>
                    <a:solidFill>
                      <a:srgbClr val="F8F9FA"/>
                    </a:solidFill>
                  </a:tcPr>
                </a:tc>
                <a:tc>
                  <a:txBody>
                    <a:bodyPr/>
                    <a:lstStyle/>
                    <a:p>
                      <a:pPr algn="ctr">
                        <a:defRPr sz="800" b="0">
                          <a:solidFill>
                            <a:srgbClr val="212529"/>
                          </a:solidFill>
                          <a:latin typeface="Consolas"/>
                        </a:defRPr>
                      </a:pPr>
                      <a:r>
                        <a:t>3.0</a:t>
                      </a:r>
                    </a:p>
                  </a:txBody>
                  <a:tcPr>
                    <a:solidFill>
                      <a:srgbClr val="F8F9FA"/>
                    </a:solidFill>
                  </a:tcPr>
                </a:tc>
                <a:tc>
                  <a:txBody>
                    <a:bodyPr/>
                    <a:lstStyle/>
                    <a:p>
                      <a:pPr algn="ctr">
                        <a:defRPr sz="800" b="0">
                          <a:solidFill>
                            <a:srgbClr val="212529"/>
                          </a:solidFill>
                          <a:latin typeface="Consolas"/>
                        </a:defRPr>
                      </a:pPr>
                      <a:r>
                        <a:t>15.0</a:t>
                      </a:r>
                    </a:p>
                  </a:txBody>
                  <a:tcPr>
                    <a:solidFill>
                      <a:srgbClr val="F8F9FA"/>
                    </a:solidFill>
                  </a:tcPr>
                </a:tc>
                <a:tc>
                  <a:txBody>
                    <a:bodyPr/>
                    <a:lstStyle/>
                    <a:p>
                      <a:pPr algn="ctr">
                        <a:defRPr sz="800" b="0">
                          <a:solidFill>
                            <a:srgbClr val="212529"/>
                          </a:solidFill>
                          <a:latin typeface="Consolas"/>
                        </a:defRPr>
                      </a:pPr>
                      <a:r>
                        <a:t>106</a:t>
                      </a:r>
                    </a:p>
                  </a:txBody>
                  <a:tcPr>
                    <a:solidFill>
                      <a:srgbClr val="F8F9FA"/>
                    </a:solidFill>
                  </a:tcPr>
                </a:tc>
                <a:tc>
                  <a:txBody>
                    <a:bodyPr/>
                    <a:lstStyle/>
                    <a:p>
                      <a:pPr algn="ctr">
                        <a:defRPr sz="800" b="0">
                          <a:solidFill>
                            <a:srgbClr val="212529"/>
                          </a:solidFill>
                          <a:latin typeface="Consolas"/>
                        </a:defRPr>
                      </a:pPr>
                      <a:r>
                        <a:t>6648</a:t>
                      </a:r>
                    </a:p>
                  </a:txBody>
                  <a:tcPr>
                    <a:solidFill>
                      <a:srgbClr val="F8F9FA"/>
                    </a:solidFill>
                  </a:tcPr>
                </a:tc>
                <a:tc>
                  <a:txBody>
                    <a:bodyPr/>
                    <a:lstStyle/>
                    <a:p>
                      <a:pPr algn="ctr">
                        <a:defRPr sz="800" b="0">
                          <a:solidFill>
                            <a:srgbClr val="212529"/>
                          </a:solidFill>
                          <a:latin typeface="Consolas"/>
                        </a:defRPr>
                      </a:pPr>
                      <a:r>
                        <a:t>-8980125</a:t>
                      </a:r>
                    </a:p>
                  </a:txBody>
                  <a:tcPr>
                    <a:solidFill>
                      <a:srgbClr val="F8F9FA"/>
                    </a:solidFill>
                  </a:tcPr>
                </a:tc>
                <a:tc>
                  <a:txBody>
                    <a:bodyPr/>
                    <a:lstStyle/>
                    <a:p>
                      <a:pPr algn="ctr">
                        <a:defRPr sz="800" b="0">
                          <a:solidFill>
                            <a:srgbClr val="212529"/>
                          </a:solidFill>
                          <a:latin typeface="Consolas"/>
                        </a:defRPr>
                      </a:pPr>
                      <a:r>
                        <a:t>+159000</a:t>
                      </a:r>
                    </a:p>
                  </a:txBody>
                  <a:tcPr>
                    <a:solidFill>
                      <a:srgbClr val="F8F9FA"/>
                    </a:solidFill>
                  </a:tcPr>
                </a:tc>
                <a:tc>
                  <a:txBody>
                    <a:bodyPr/>
                    <a:lstStyle/>
                    <a:p>
                      <a:pPr algn="ctr">
                        <a:defRPr sz="800" b="0">
                          <a:solidFill>
                            <a:srgbClr val="DC3545"/>
                          </a:solidFill>
                          <a:latin typeface="Consolas"/>
                        </a:defRPr>
                      </a:pPr>
                      <a:r>
                        <a:t>-638941</a:t>
                      </a:r>
                    </a:p>
                  </a:txBody>
                  <a:tcPr>
                    <a:solidFill>
                      <a:srgbClr val="F8F9FA"/>
                    </a:solidFill>
                  </a:tcPr>
                </a:tc>
                <a:tc>
                  <a:txBody>
                    <a:bodyPr/>
                    <a:lstStyle/>
                    <a:p>
                      <a:pPr algn="ctr">
                        <a:defRPr sz="800" b="0">
                          <a:solidFill>
                            <a:srgbClr val="DC3545"/>
                          </a:solidFill>
                          <a:latin typeface="Consolas"/>
                        </a:defRPr>
                      </a:pPr>
                      <a:r>
                        <a:t>-1228836</a:t>
                      </a:r>
                    </a:p>
                  </a:txBody>
                  <a:tcPr>
                    <a:solidFill>
                      <a:srgbClr val="F8F9FA"/>
                    </a:solidFill>
                  </a:tcPr>
                </a:tc>
              </a:tr>
              <a:tr h="320040">
                <a:tc>
                  <a:txBody>
                    <a:bodyPr/>
                    <a:lstStyle/>
                    <a:p>
                      <a:pPr algn="l">
                        <a:defRPr sz="800" b="0">
                          <a:solidFill>
                            <a:srgbClr val="212529"/>
                          </a:solidFill>
                          <a:latin typeface="Consolas"/>
                        </a:defRPr>
                      </a:pPr>
                      <a:r>
                        <a:t>Sherwood Financing</a:t>
                      </a:r>
                    </a:p>
                  </a:txBody>
                  <a:tcPr>
                    <a:solidFill>
                      <a:srgbClr val="FFFFFF"/>
                    </a:solidFill>
                  </a:tcPr>
                </a:tc>
                <a:tc>
                  <a:txBody>
                    <a:bodyPr/>
                    <a:lstStyle/>
                    <a:p>
                      <a:pPr algn="ctr">
                        <a:defRPr sz="800" b="0">
                          <a:solidFill>
                            <a:srgbClr val="DC3545"/>
                          </a:solidFill>
                          <a:latin typeface="Consolas"/>
                        </a:defRPr>
                      </a:pPr>
                      <a:r>
                        <a:t>LONG</a:t>
                      </a:r>
                    </a:p>
                  </a:txBody>
                  <a:tcPr>
                    <a:solidFill>
                      <a:srgbClr val="FFFFFF"/>
                    </a:solidFill>
                  </a:tcPr>
                </a:tc>
                <a:tc>
                  <a:txBody>
                    <a:bodyPr/>
                    <a:lstStyle/>
                    <a:p>
                      <a:pPr algn="ctr">
                        <a:defRPr sz="800" b="0">
                          <a:solidFill>
                            <a:srgbClr val="212529"/>
                          </a:solidFill>
                          <a:latin typeface="Consolas"/>
                        </a:defRPr>
                      </a:pPr>
                      <a:r>
                        <a:t>1.5</a:t>
                      </a:r>
                    </a:p>
                  </a:txBody>
                  <a:tcPr>
                    <a:solidFill>
                      <a:srgbClr val="FFFFFF"/>
                    </a:solidFill>
                  </a:tcPr>
                </a:tc>
                <a:tc>
                  <a:txBody>
                    <a:bodyPr/>
                    <a:lstStyle/>
                    <a:p>
                      <a:pPr algn="ctr">
                        <a:defRPr sz="800" b="0">
                          <a:solidFill>
                            <a:srgbClr val="212529"/>
                          </a:solidFill>
                          <a:latin typeface="Consolas"/>
                        </a:defRPr>
                      </a:pPr>
                      <a:r>
                        <a:t>7.5</a:t>
                      </a:r>
                    </a:p>
                  </a:txBody>
                  <a:tcPr>
                    <a:solidFill>
                      <a:srgbClr val="FFFFFF"/>
                    </a:solidFill>
                  </a:tcPr>
                </a:tc>
                <a:tc>
                  <a:txBody>
                    <a:bodyPr/>
                    <a:lstStyle/>
                    <a:p>
                      <a:pPr algn="ctr">
                        <a:defRPr sz="800" b="0">
                          <a:solidFill>
                            <a:srgbClr val="212529"/>
                          </a:solidFill>
                          <a:latin typeface="Consolas"/>
                        </a:defRPr>
                      </a:pPr>
                      <a:r>
                        <a:t>585</a:t>
                      </a:r>
                    </a:p>
                  </a:txBody>
                  <a:tcPr>
                    <a:solidFill>
                      <a:srgbClr val="FFFFFF"/>
                    </a:solidFill>
                  </a:tcPr>
                </a:tc>
                <a:tc>
                  <a:txBody>
                    <a:bodyPr/>
                    <a:lstStyle/>
                    <a:p>
                      <a:pPr algn="ctr">
                        <a:defRPr sz="800" b="0">
                          <a:solidFill>
                            <a:srgbClr val="212529"/>
                          </a:solidFill>
                          <a:latin typeface="Consolas"/>
                        </a:defRPr>
                      </a:pPr>
                      <a:r>
                        <a:t>2763</a:t>
                      </a:r>
                    </a:p>
                  </a:txBody>
                  <a:tcPr>
                    <a:solidFill>
                      <a:srgbClr val="FFFFFF"/>
                    </a:solidFill>
                  </a:tcPr>
                </a:tc>
                <a:tc>
                  <a:txBody>
                    <a:bodyPr/>
                    <a:lstStyle/>
                    <a:p>
                      <a:pPr algn="ctr">
                        <a:defRPr sz="800" b="0">
                          <a:solidFill>
                            <a:srgbClr val="212529"/>
                          </a:solidFill>
                          <a:latin typeface="Consolas"/>
                        </a:defRPr>
                      </a:pPr>
                      <a:r>
                        <a:t>+4445156</a:t>
                      </a:r>
                    </a:p>
                  </a:txBody>
                  <a:tcPr>
                    <a:solidFill>
                      <a:srgbClr val="FFFFFF"/>
                    </a:solidFill>
                  </a:tcPr>
                </a:tc>
                <a:tc>
                  <a:txBody>
                    <a:bodyPr/>
                    <a:lstStyle/>
                    <a:p>
                      <a:pPr algn="ctr">
                        <a:defRPr sz="800" b="0">
                          <a:solidFill>
                            <a:srgbClr val="212529"/>
                          </a:solidFill>
                          <a:latin typeface="Consolas"/>
                        </a:defRPr>
                      </a:pPr>
                      <a:r>
                        <a:t>-438750</a:t>
                      </a:r>
                    </a:p>
                  </a:txBody>
                  <a:tcPr>
                    <a:solidFill>
                      <a:srgbClr val="FFFFFF"/>
                    </a:solidFill>
                  </a:tcPr>
                </a:tc>
                <a:tc>
                  <a:txBody>
                    <a:bodyPr/>
                    <a:lstStyle/>
                    <a:p>
                      <a:pPr algn="ctr">
                        <a:defRPr sz="800" b="0">
                          <a:solidFill>
                            <a:srgbClr val="28A745"/>
                          </a:solidFill>
                          <a:latin typeface="Consolas"/>
                        </a:defRPr>
                      </a:pPr>
                      <a:r>
                        <a:t>+266245</a:t>
                      </a:r>
                    </a:p>
                  </a:txBody>
                  <a:tcPr>
                    <a:solidFill>
                      <a:srgbClr val="FFFFFF"/>
                    </a:solidFill>
                  </a:tcPr>
                </a:tc>
                <a:tc>
                  <a:txBody>
                    <a:bodyPr/>
                    <a:lstStyle/>
                    <a:p>
                      <a:pPr algn="ctr">
                        <a:defRPr sz="800" b="0">
                          <a:solidFill>
                            <a:srgbClr val="28A745"/>
                          </a:solidFill>
                          <a:latin typeface="Consolas"/>
                        </a:defRPr>
                      </a:pPr>
                      <a:r>
                        <a:t>+513458</a:t>
                      </a:r>
                    </a:p>
                  </a:txBody>
                  <a:tcPr>
                    <a:solidFill>
                      <a:srgbClr val="FFFFFF"/>
                    </a:solidFill>
                  </a:tcPr>
                </a:tc>
              </a:tr>
              <a:tr h="320040">
                <a:tc>
                  <a:txBody>
                    <a:bodyPr/>
                    <a:lstStyle/>
                    <a:p>
                      <a:pPr algn="l">
                        <a:defRPr sz="800" b="1">
                          <a:solidFill>
                            <a:srgbClr val="FFFFFF"/>
                          </a:solidFill>
                          <a:latin typeface="Consolas"/>
                        </a:defRPr>
                      </a:pPr>
                      <a:r>
                        <a:t>PORTFOLIO TOTAL</a:t>
                      </a:r>
                    </a:p>
                  </a:txBody>
                  <a:tcPr>
                    <a:solidFill>
                      <a:srgbClr val="1B2838"/>
                    </a:solidFill>
                  </a:tcPr>
                </a:tc>
                <a:tc>
                  <a:txBody>
                    <a:bodyPr/>
                    <a:lstStyle/>
                    <a:p>
                      <a:pPr algn="ctr">
                        <a:defRPr sz="800" b="1">
                          <a:solidFill>
                            <a:srgbClr val="FFFFFF"/>
                          </a:solidFill>
                          <a:latin typeface="Consolas"/>
                        </a:defRPr>
                      </a:pPr>
                      <a:r>
                        <a:t>NET SHORT</a:t>
                      </a:r>
                    </a:p>
                  </a:txBody>
                  <a:tcPr>
                    <a:solidFill>
                      <a:srgbClr val="1B2838"/>
                    </a:solidFill>
                  </a:tcPr>
                </a:tc>
                <a:tc>
                  <a:txBody>
                    <a:bodyPr/>
                    <a:lstStyle/>
                    <a:p>
                      <a:pPr algn="ctr">
                        <a:defRPr sz="800" b="1">
                          <a:solidFill>
                            <a:srgbClr val="FFFFFF"/>
                          </a:solidFill>
                          <a:latin typeface="Consolas"/>
                        </a:defRPr>
                      </a:pPr>
                      <a:r>
                        <a:t>32.0</a:t>
                      </a:r>
                    </a:p>
                  </a:txBody>
                  <a:tcPr>
                    <a:solidFill>
                      <a:srgbClr val="1B2838"/>
                    </a:solidFill>
                  </a:tcPr>
                </a:tc>
                <a:tc>
                  <a:txBody>
                    <a:bodyPr/>
                    <a:lstStyle/>
                    <a:p>
                      <a:pPr algn="ctr">
                        <a:defRPr sz="800" b="1">
                          <a:solidFill>
                            <a:srgbClr val="FFFFFF"/>
                          </a:solidFill>
                          <a:latin typeface="Consolas"/>
                        </a:defRPr>
                      </a:pPr>
                      <a:r>
                        <a:t>160.0</a:t>
                      </a:r>
                    </a:p>
                  </a:txBody>
                  <a:tcPr>
                    <a:solidFill>
                      <a:srgbClr val="1B2838"/>
                    </a:solidFill>
                  </a:tcPr>
                </a:tc>
                <a:tc>
                  <a:txBody>
                    <a:bodyPr/>
                    <a:lstStyle/>
                    <a:p>
                      <a:pPr algn="ctr">
                        <a:defRPr sz="800" b="1">
                          <a:solidFill>
                            <a:srgbClr val="FFFFFF"/>
                          </a:solidFill>
                          <a:latin typeface="Consolas"/>
                        </a:defRPr>
                      </a:pPr>
                    </a:p>
                  </a:txBody>
                  <a:tcPr>
                    <a:solidFill>
                      <a:srgbClr val="1B2838"/>
                    </a:solidFill>
                  </a:tcPr>
                </a:tc>
                <a:tc>
                  <a:txBody>
                    <a:bodyPr/>
                    <a:lstStyle/>
                    <a:p>
                      <a:pPr algn="ctr">
                        <a:defRPr sz="800" b="1">
                          <a:solidFill>
                            <a:srgbClr val="FFFFFF"/>
                          </a:solidFill>
                          <a:latin typeface="Consolas"/>
                        </a:defRPr>
                      </a:pPr>
                      <a:r>
                        <a:t>67038</a:t>
                      </a:r>
                    </a:p>
                  </a:txBody>
                  <a:tcPr>
                    <a:solidFill>
                      <a:srgbClr val="1B2838"/>
                    </a:solidFill>
                  </a:tcPr>
                </a:tc>
                <a:tc>
                  <a:txBody>
                    <a:bodyPr/>
                    <a:lstStyle/>
                    <a:p>
                      <a:pPr algn="ctr">
                        <a:defRPr sz="800" b="1">
                          <a:solidFill>
                            <a:srgbClr val="FFFFFF"/>
                          </a:solidFill>
                          <a:latin typeface="Consolas"/>
                        </a:defRPr>
                      </a:pPr>
                      <a:r>
                        <a:t>95435812</a:t>
                      </a:r>
                    </a:p>
                  </a:txBody>
                  <a:tcPr>
                    <a:solidFill>
                      <a:srgbClr val="1B2838"/>
                    </a:solidFill>
                  </a:tcPr>
                </a:tc>
                <a:tc>
                  <a:txBody>
                    <a:bodyPr/>
                    <a:lstStyle/>
                    <a:p>
                      <a:pPr algn="ctr">
                        <a:defRPr sz="800" b="1">
                          <a:solidFill>
                            <a:srgbClr val="FFFFFF"/>
                          </a:solidFill>
                          <a:latin typeface="Consolas"/>
                        </a:defRPr>
                      </a:pPr>
                      <a:r>
                        <a:t>-2228000</a:t>
                      </a:r>
                    </a:p>
                  </a:txBody>
                  <a:tcPr>
                    <a:solidFill>
                      <a:srgbClr val="1B2838"/>
                    </a:solidFill>
                  </a:tcPr>
                </a:tc>
                <a:tc>
                  <a:txBody>
                    <a:bodyPr/>
                    <a:lstStyle/>
                    <a:p>
                      <a:pPr algn="ctr">
                        <a:defRPr sz="800" b="1">
                          <a:solidFill>
                            <a:srgbClr val="DC3545"/>
                          </a:solidFill>
                          <a:latin typeface="Consolas"/>
                        </a:defRPr>
                      </a:pPr>
                      <a:r>
                        <a:t>-4265479</a:t>
                      </a:r>
                    </a:p>
                  </a:txBody>
                  <a:tcPr>
                    <a:solidFill>
                      <a:srgbClr val="1B2838"/>
                    </a:solidFill>
                  </a:tcPr>
                </a:tc>
                <a:tc>
                  <a:txBody>
                    <a:bodyPr/>
                    <a:lstStyle/>
                    <a:p>
                      <a:pPr algn="ctr">
                        <a:defRPr sz="800" b="1">
                          <a:solidFill>
                            <a:srgbClr val="DC3545"/>
                          </a:solidFill>
                          <a:latin typeface="Consolas"/>
                        </a:defRPr>
                      </a:pPr>
                      <a:r>
                        <a:t>-8192654</a:t>
                      </a:r>
                    </a:p>
                  </a:txBody>
                  <a:tcPr>
                    <a:solidFill>
                      <a:srgbClr val="1B2838"/>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9144000" cy="457200"/>
          </a:xfrm>
          <a:prstGeom prst="rect">
            <a:avLst/>
          </a:prstGeom>
          <a:noFill/>
        </p:spPr>
        <p:txBody>
          <a:bodyPr wrap="square">
            <a:spAutoFit/>
          </a:bodyPr>
          <a:lstStyle/>
          <a:p>
            <a:pPr algn="l">
              <a:defRPr sz="2400" b="1">
                <a:solidFill>
                  <a:srgbClr val="FFFFFF"/>
                </a:solidFill>
                <a:latin typeface="Calibri"/>
              </a:defRPr>
            </a:pPr>
            <a:r>
              <a:t>TRADE EXAMPLE</a:t>
            </a:r>
          </a:p>
        </p:txBody>
      </p:sp>
      <p:sp>
        <p:nvSpPr>
          <p:cNvPr id="4" name="TextBox 3"/>
          <p:cNvSpPr txBox="1"/>
          <p:nvPr/>
        </p:nvSpPr>
        <p:spPr>
          <a:xfrm>
            <a:off x="731520" y="594360"/>
            <a:ext cx="9144000" cy="365760"/>
          </a:xfrm>
          <a:prstGeom prst="rect">
            <a:avLst/>
          </a:prstGeom>
          <a:noFill/>
        </p:spPr>
        <p:txBody>
          <a:bodyPr wrap="square">
            <a:spAutoFit/>
          </a:bodyPr>
          <a:lstStyle/>
          <a:p>
            <a:pPr algn="l">
              <a:defRPr sz="1300" b="0">
                <a:solidFill>
                  <a:srgbClr val="778DA9"/>
                </a:solidFill>
                <a:latin typeface="Calibri"/>
              </a:defRPr>
            </a:pPr>
            <a:r>
              <a:t>Credit catalyst trade -- from signal to exit</a:t>
            </a:r>
          </a:p>
        </p:txBody>
      </p:sp>
      <p:sp>
        <p:nvSpPr>
          <p:cNvPr id="5" name="TextBox 4"/>
          <p:cNvSpPr txBox="1"/>
          <p:nvPr/>
        </p:nvSpPr>
        <p:spPr>
          <a:xfrm>
            <a:off x="9326880" y="228600"/>
            <a:ext cx="2560320" cy="365760"/>
          </a:xfrm>
          <a:prstGeom prst="rect">
            <a:avLst/>
          </a:prstGeom>
          <a:noFill/>
        </p:spPr>
        <p:txBody>
          <a:bodyPr wrap="square">
            <a:spAutoFit/>
          </a:bodyPr>
          <a:lstStyle/>
          <a:p>
            <a:pPr algn="r">
              <a:defRPr sz="1100" b="1">
                <a:solidFill>
                  <a:srgbClr val="3B82F6"/>
                </a:solidFill>
                <a:latin typeface="Calibri"/>
              </a:defRPr>
            </a:pPr>
            <a:r>
              <a:t>MACRO CREDIT MONITOR</a:t>
            </a:r>
          </a:p>
        </p:txBody>
      </p:sp>
      <p:sp>
        <p:nvSpPr>
          <p:cNvPr id="6" name="TextBox 5"/>
          <p:cNvSpPr txBox="1"/>
          <p:nvPr/>
        </p:nvSpPr>
        <p:spPr>
          <a:xfrm>
            <a:off x="731520" y="6400800"/>
            <a:ext cx="9144000" cy="274320"/>
          </a:xfrm>
          <a:prstGeom prst="rect">
            <a:avLst/>
          </a:prstGeom>
          <a:noFill/>
        </p:spPr>
        <p:txBody>
          <a:bodyPr wrap="square">
            <a:spAutoFit/>
          </a:bodyPr>
          <a:lstStyle/>
          <a:p>
            <a:pPr algn="l">
              <a:defRPr sz="800" b="0">
                <a:solidFill>
                  <a:srgbClr val="778DA9"/>
                </a:solidFill>
                <a:latin typeface="Calibri"/>
              </a:defRPr>
            </a:pPr>
            <a:r>
              <a:t>BRUMMER &amp; PARTNERS PITCH  |  CONFIDENTIAL  |  2026-02-26</a:t>
            </a:r>
          </a:p>
        </p:txBody>
      </p:sp>
      <p:sp>
        <p:nvSpPr>
          <p:cNvPr id="7" name="TextBox 6"/>
          <p:cNvSpPr txBox="1"/>
          <p:nvPr/>
        </p:nvSpPr>
        <p:spPr>
          <a:xfrm>
            <a:off x="731520" y="1371600"/>
            <a:ext cx="5029200" cy="274320"/>
          </a:xfrm>
          <a:prstGeom prst="rect">
            <a:avLst/>
          </a:prstGeom>
          <a:noFill/>
        </p:spPr>
        <p:txBody>
          <a:bodyPr wrap="square">
            <a:spAutoFit/>
          </a:bodyPr>
          <a:lstStyle/>
          <a:p>
            <a:pPr algn="l">
              <a:defRPr sz="1400" b="1">
                <a:solidFill>
                  <a:srgbClr val="3B82F6"/>
                </a:solidFill>
                <a:latin typeface="Calibri"/>
              </a:defRPr>
            </a:pPr>
            <a:r>
              <a:t>SIGNAL</a:t>
            </a:r>
          </a:p>
        </p:txBody>
      </p:sp>
      <p:sp>
        <p:nvSpPr>
          <p:cNvPr id="8" name="TextBox 7"/>
          <p:cNvSpPr txBox="1"/>
          <p:nvPr/>
        </p:nvSpPr>
        <p:spPr>
          <a:xfrm>
            <a:off x="731520" y="1737360"/>
            <a:ext cx="5029200" cy="1097280"/>
          </a:xfrm>
          <a:prstGeom prst="rect">
            <a:avLst/>
          </a:prstGeom>
          <a:noFill/>
        </p:spPr>
        <p:txBody>
          <a:bodyPr wrap="square">
            <a:spAutoFit/>
          </a:bodyPr>
          <a:lstStyle/>
          <a:p>
            <a:pPr algn="l">
              <a:defRPr sz="1100" b="0">
                <a:solidFill>
                  <a:srgbClr val="415A77"/>
                </a:solidFill>
                <a:latin typeface="Calibri"/>
              </a:defRPr>
            </a:pPr>
            <a:r>
              <a:t>System flags unusual filing: Company X announces a 200m dividend recap while leverage sits at 5.5x. Management history shows creditor-hostile behaviour. Documentation engine confirms weak covenant package -- no restricted payments cap, no portability limits.</a:t>
            </a:r>
          </a:p>
        </p:txBody>
      </p:sp>
      <p:sp>
        <p:nvSpPr>
          <p:cNvPr id="9" name="TextBox 8"/>
          <p:cNvSpPr txBox="1"/>
          <p:nvPr/>
        </p:nvSpPr>
        <p:spPr>
          <a:xfrm>
            <a:off x="731520" y="2834640"/>
            <a:ext cx="5029200" cy="274320"/>
          </a:xfrm>
          <a:prstGeom prst="rect">
            <a:avLst/>
          </a:prstGeom>
          <a:noFill/>
        </p:spPr>
        <p:txBody>
          <a:bodyPr wrap="square">
            <a:spAutoFit/>
          </a:bodyPr>
          <a:lstStyle/>
          <a:p>
            <a:pPr algn="l">
              <a:defRPr sz="1400" b="1">
                <a:solidFill>
                  <a:srgbClr val="3B82F6"/>
                </a:solidFill>
                <a:latin typeface="Calibri"/>
              </a:defRPr>
            </a:pPr>
            <a:r>
              <a:t>EXECUTION</a:t>
            </a:r>
          </a:p>
        </p:txBody>
      </p:sp>
      <p:sp>
        <p:nvSpPr>
          <p:cNvPr id="10" name="TextBox 9"/>
          <p:cNvSpPr txBox="1"/>
          <p:nvPr/>
        </p:nvSpPr>
        <p:spPr>
          <a:xfrm>
            <a:off x="731520" y="3200400"/>
            <a:ext cx="5029200" cy="1280160"/>
          </a:xfrm>
          <a:prstGeom prst="rect">
            <a:avLst/>
          </a:prstGeom>
          <a:noFill/>
        </p:spPr>
        <p:txBody>
          <a:bodyPr wrap="square">
            <a:spAutoFit/>
          </a:bodyPr>
          <a:lstStyle/>
          <a:p>
            <a:pPr algn="l">
              <a:defRPr sz="1100" b="0">
                <a:solidFill>
                  <a:srgbClr val="415A77"/>
                </a:solidFill>
                <a:latin typeface="Calibri"/>
              </a:defRPr>
            </a:pPr>
            <a:r>
              <a:t>Buy 5yr CDS protection at 350bps</a:t>
            </a:r>
            <a:br/>
            <a:r>
              <a:t>CS01: ~$16,500/bp (~2% of risk budget on $250m book)</a:t>
            </a:r>
            <a:br/>
            <a:r>
              <a:t>Target: 550bps (downgrade catalyst)</a:t>
            </a:r>
            <a:br/>
            <a:r>
              <a:t>Stop: 280bps (thesis invalidated)</a:t>
            </a:r>
            <a:br/>
            <a:r>
              <a:t>Instrument choice: single-name CDS preferred over bond short due to better liquidity and no borrow cost</a:t>
            </a:r>
          </a:p>
        </p:txBody>
      </p:sp>
      <p:sp>
        <p:nvSpPr>
          <p:cNvPr id="11" name="Rectangle 10"/>
          <p:cNvSpPr/>
          <p:nvPr/>
        </p:nvSpPr>
        <p:spPr>
          <a:xfrm>
            <a:off x="6217920" y="1371600"/>
            <a:ext cx="5029200" cy="4572000"/>
          </a:xfrm>
          <a:prstGeom prst="rect">
            <a:avLst/>
          </a:prstGeom>
          <a:solidFill>
            <a:srgbClr val="1B2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554480"/>
            <a:ext cx="4572000" cy="274320"/>
          </a:xfrm>
          <a:prstGeom prst="rect">
            <a:avLst/>
          </a:prstGeom>
          <a:noFill/>
        </p:spPr>
        <p:txBody>
          <a:bodyPr wrap="square">
            <a:spAutoFit/>
          </a:bodyPr>
          <a:lstStyle/>
          <a:p>
            <a:pPr algn="l">
              <a:defRPr sz="1400" b="1">
                <a:solidFill>
                  <a:srgbClr val="FFFFFF"/>
                </a:solidFill>
                <a:latin typeface="Calibri"/>
              </a:defRPr>
            </a:pPr>
            <a:r>
              <a:t>P&amp;L SCENARIOS</a:t>
            </a:r>
          </a:p>
        </p:txBody>
      </p:sp>
      <p:sp>
        <p:nvSpPr>
          <p:cNvPr id="13" name="TextBox 12"/>
          <p:cNvSpPr txBox="1"/>
          <p:nvPr/>
        </p:nvSpPr>
        <p:spPr>
          <a:xfrm>
            <a:off x="6400800" y="2011680"/>
            <a:ext cx="4572000" cy="228600"/>
          </a:xfrm>
          <a:prstGeom prst="rect">
            <a:avLst/>
          </a:prstGeom>
          <a:noFill/>
        </p:spPr>
        <p:txBody>
          <a:bodyPr wrap="square">
            <a:spAutoFit/>
          </a:bodyPr>
          <a:lstStyle/>
          <a:p>
            <a:pPr algn="l">
              <a:defRPr sz="1100" b="1">
                <a:solidFill>
                  <a:srgbClr val="28A745"/>
                </a:solidFill>
                <a:latin typeface="Calibri"/>
              </a:defRPr>
            </a:pPr>
            <a:r>
              <a:t>Target hit (350 &gt; 550bp)</a:t>
            </a:r>
          </a:p>
        </p:txBody>
      </p:sp>
      <p:sp>
        <p:nvSpPr>
          <p:cNvPr id="14" name="TextBox 13"/>
          <p:cNvSpPr txBox="1"/>
          <p:nvPr/>
        </p:nvSpPr>
        <p:spPr>
          <a:xfrm>
            <a:off x="6400800" y="2240280"/>
            <a:ext cx="2743200" cy="182880"/>
          </a:xfrm>
          <a:prstGeom prst="rect">
            <a:avLst/>
          </a:prstGeom>
          <a:noFill/>
        </p:spPr>
        <p:txBody>
          <a:bodyPr wrap="square">
            <a:spAutoFit/>
          </a:bodyPr>
          <a:lstStyle/>
          <a:p>
            <a:pPr algn="l">
              <a:defRPr sz="1000" b="0">
                <a:solidFill>
                  <a:srgbClr val="FFFFFF"/>
                </a:solidFill>
                <a:latin typeface="Consolas"/>
              </a:defRPr>
            </a:pPr>
            <a:r>
              <a:t>+200bp x $16.5k = +$3.3m</a:t>
            </a:r>
          </a:p>
        </p:txBody>
      </p:sp>
      <p:sp>
        <p:nvSpPr>
          <p:cNvPr id="15" name="TextBox 14"/>
          <p:cNvSpPr txBox="1"/>
          <p:nvPr/>
        </p:nvSpPr>
        <p:spPr>
          <a:xfrm>
            <a:off x="8961120" y="2240280"/>
            <a:ext cx="2286000" cy="182880"/>
          </a:xfrm>
          <a:prstGeom prst="rect">
            <a:avLst/>
          </a:prstGeom>
          <a:noFill/>
        </p:spPr>
        <p:txBody>
          <a:bodyPr wrap="square">
            <a:spAutoFit/>
          </a:bodyPr>
          <a:lstStyle/>
          <a:p>
            <a:pPr algn="l">
              <a:defRPr sz="900" b="0">
                <a:solidFill>
                  <a:srgbClr val="778DA9"/>
                </a:solidFill>
                <a:latin typeface="Calibri"/>
              </a:defRPr>
            </a:pPr>
            <a:r>
              <a:t>+ convexity</a:t>
            </a:r>
          </a:p>
        </p:txBody>
      </p:sp>
      <p:sp>
        <p:nvSpPr>
          <p:cNvPr id="16" name="TextBox 15"/>
          <p:cNvSpPr txBox="1"/>
          <p:nvPr/>
        </p:nvSpPr>
        <p:spPr>
          <a:xfrm>
            <a:off x="6400800" y="2606040"/>
            <a:ext cx="4572000" cy="228600"/>
          </a:xfrm>
          <a:prstGeom prst="rect">
            <a:avLst/>
          </a:prstGeom>
          <a:noFill/>
        </p:spPr>
        <p:txBody>
          <a:bodyPr wrap="square">
            <a:spAutoFit/>
          </a:bodyPr>
          <a:lstStyle/>
          <a:p>
            <a:pPr algn="l">
              <a:defRPr sz="1100" b="1">
                <a:solidFill>
                  <a:srgbClr val="28A745"/>
                </a:solidFill>
                <a:latin typeface="Calibri"/>
              </a:defRPr>
            </a:pPr>
            <a:r>
              <a:t>Overshoot (350 &gt; 700bp)</a:t>
            </a:r>
          </a:p>
        </p:txBody>
      </p:sp>
      <p:sp>
        <p:nvSpPr>
          <p:cNvPr id="17" name="TextBox 16"/>
          <p:cNvSpPr txBox="1"/>
          <p:nvPr/>
        </p:nvSpPr>
        <p:spPr>
          <a:xfrm>
            <a:off x="6400800" y="2834640"/>
            <a:ext cx="2743200" cy="182880"/>
          </a:xfrm>
          <a:prstGeom prst="rect">
            <a:avLst/>
          </a:prstGeom>
          <a:noFill/>
        </p:spPr>
        <p:txBody>
          <a:bodyPr wrap="square">
            <a:spAutoFit/>
          </a:bodyPr>
          <a:lstStyle/>
          <a:p>
            <a:pPr algn="l">
              <a:defRPr sz="1000" b="0">
                <a:solidFill>
                  <a:srgbClr val="FFFFFF"/>
                </a:solidFill>
                <a:latin typeface="Consolas"/>
              </a:defRPr>
            </a:pPr>
            <a:r>
              <a:t>+350bp x $16.5k = +$5.8m</a:t>
            </a:r>
          </a:p>
        </p:txBody>
      </p:sp>
      <p:sp>
        <p:nvSpPr>
          <p:cNvPr id="18" name="TextBox 17"/>
          <p:cNvSpPr txBox="1"/>
          <p:nvPr/>
        </p:nvSpPr>
        <p:spPr>
          <a:xfrm>
            <a:off x="8961120" y="2834640"/>
            <a:ext cx="2286000" cy="182880"/>
          </a:xfrm>
          <a:prstGeom prst="rect">
            <a:avLst/>
          </a:prstGeom>
          <a:noFill/>
        </p:spPr>
        <p:txBody>
          <a:bodyPr wrap="square">
            <a:spAutoFit/>
          </a:bodyPr>
          <a:lstStyle/>
          <a:p>
            <a:pPr algn="l">
              <a:defRPr sz="900" b="0">
                <a:solidFill>
                  <a:srgbClr val="778DA9"/>
                </a:solidFill>
                <a:latin typeface="Calibri"/>
              </a:defRPr>
            </a:pPr>
            <a:r>
              <a:t>+ significant convexity</a:t>
            </a:r>
          </a:p>
        </p:txBody>
      </p:sp>
      <p:sp>
        <p:nvSpPr>
          <p:cNvPr id="19" name="TextBox 18"/>
          <p:cNvSpPr txBox="1"/>
          <p:nvPr/>
        </p:nvSpPr>
        <p:spPr>
          <a:xfrm>
            <a:off x="6400800" y="3200400"/>
            <a:ext cx="4572000" cy="228600"/>
          </a:xfrm>
          <a:prstGeom prst="rect">
            <a:avLst/>
          </a:prstGeom>
          <a:noFill/>
        </p:spPr>
        <p:txBody>
          <a:bodyPr wrap="square">
            <a:spAutoFit/>
          </a:bodyPr>
          <a:lstStyle/>
          <a:p>
            <a:pPr algn="l">
              <a:defRPr sz="1100" b="1">
                <a:solidFill>
                  <a:srgbClr val="28A745"/>
                </a:solidFill>
                <a:latin typeface="Calibri"/>
              </a:defRPr>
            </a:pPr>
            <a:r>
              <a:t>Credit event (default)</a:t>
            </a:r>
          </a:p>
        </p:txBody>
      </p:sp>
      <p:sp>
        <p:nvSpPr>
          <p:cNvPr id="20" name="TextBox 19"/>
          <p:cNvSpPr txBox="1"/>
          <p:nvPr/>
        </p:nvSpPr>
        <p:spPr>
          <a:xfrm>
            <a:off x="6400800" y="3429000"/>
            <a:ext cx="2743200" cy="182880"/>
          </a:xfrm>
          <a:prstGeom prst="rect">
            <a:avLst/>
          </a:prstGeom>
          <a:noFill/>
        </p:spPr>
        <p:txBody>
          <a:bodyPr wrap="square">
            <a:spAutoFit/>
          </a:bodyPr>
          <a:lstStyle/>
          <a:p>
            <a:pPr algn="l">
              <a:defRPr sz="1000" b="0">
                <a:solidFill>
                  <a:srgbClr val="FFFFFF"/>
                </a:solidFill>
                <a:latin typeface="Consolas"/>
              </a:defRPr>
            </a:pPr>
            <a:r>
              <a:t>JTD payout ~$10m</a:t>
            </a:r>
          </a:p>
        </p:txBody>
      </p:sp>
      <p:sp>
        <p:nvSpPr>
          <p:cNvPr id="21" name="TextBox 20"/>
          <p:cNvSpPr txBox="1"/>
          <p:nvPr/>
        </p:nvSpPr>
        <p:spPr>
          <a:xfrm>
            <a:off x="8961120" y="3429000"/>
            <a:ext cx="2286000" cy="182880"/>
          </a:xfrm>
          <a:prstGeom prst="rect">
            <a:avLst/>
          </a:prstGeom>
          <a:noFill/>
        </p:spPr>
        <p:txBody>
          <a:bodyPr wrap="square">
            <a:spAutoFit/>
          </a:bodyPr>
          <a:lstStyle/>
          <a:p>
            <a:pPr algn="l">
              <a:defRPr sz="900" b="0">
                <a:solidFill>
                  <a:srgbClr val="778DA9"/>
                </a:solidFill>
                <a:latin typeface="Calibri"/>
              </a:defRPr>
            </a:pPr>
            <a:r>
              <a:t>33% recovery assumed</a:t>
            </a:r>
          </a:p>
        </p:txBody>
      </p:sp>
      <p:sp>
        <p:nvSpPr>
          <p:cNvPr id="22" name="TextBox 21"/>
          <p:cNvSpPr txBox="1"/>
          <p:nvPr/>
        </p:nvSpPr>
        <p:spPr>
          <a:xfrm>
            <a:off x="6400800" y="3794760"/>
            <a:ext cx="4572000" cy="228600"/>
          </a:xfrm>
          <a:prstGeom prst="rect">
            <a:avLst/>
          </a:prstGeom>
          <a:noFill/>
        </p:spPr>
        <p:txBody>
          <a:bodyPr wrap="square">
            <a:spAutoFit/>
          </a:bodyPr>
          <a:lstStyle/>
          <a:p>
            <a:pPr algn="l">
              <a:defRPr sz="1100" b="1">
                <a:solidFill>
                  <a:srgbClr val="DC3545"/>
                </a:solidFill>
                <a:latin typeface="Calibri"/>
              </a:defRPr>
            </a:pPr>
            <a:r>
              <a:t>Stop hit (350 &gt; 280bp)</a:t>
            </a:r>
          </a:p>
        </p:txBody>
      </p:sp>
      <p:sp>
        <p:nvSpPr>
          <p:cNvPr id="23" name="TextBox 22"/>
          <p:cNvSpPr txBox="1"/>
          <p:nvPr/>
        </p:nvSpPr>
        <p:spPr>
          <a:xfrm>
            <a:off x="6400800" y="4023360"/>
            <a:ext cx="2743200" cy="182880"/>
          </a:xfrm>
          <a:prstGeom prst="rect">
            <a:avLst/>
          </a:prstGeom>
          <a:noFill/>
        </p:spPr>
        <p:txBody>
          <a:bodyPr wrap="square">
            <a:spAutoFit/>
          </a:bodyPr>
          <a:lstStyle/>
          <a:p>
            <a:pPr algn="l">
              <a:defRPr sz="1000" b="0">
                <a:solidFill>
                  <a:srgbClr val="FFFFFF"/>
                </a:solidFill>
                <a:latin typeface="Consolas"/>
              </a:defRPr>
            </a:pPr>
            <a:r>
              <a:t>-70bp x $16.5k = -$1.2m</a:t>
            </a:r>
          </a:p>
        </p:txBody>
      </p:sp>
      <p:sp>
        <p:nvSpPr>
          <p:cNvPr id="24" name="TextBox 23"/>
          <p:cNvSpPr txBox="1"/>
          <p:nvPr/>
        </p:nvSpPr>
        <p:spPr>
          <a:xfrm>
            <a:off x="8961120" y="4023360"/>
            <a:ext cx="2286000" cy="182880"/>
          </a:xfrm>
          <a:prstGeom prst="rect">
            <a:avLst/>
          </a:prstGeom>
          <a:noFill/>
        </p:spPr>
        <p:txBody>
          <a:bodyPr wrap="square">
            <a:spAutoFit/>
          </a:bodyPr>
          <a:lstStyle/>
          <a:p>
            <a:pPr algn="l">
              <a:defRPr sz="900" b="0">
                <a:solidFill>
                  <a:srgbClr val="778DA9"/>
                </a:solidFill>
                <a:latin typeface="Calibri"/>
              </a:defRPr>
            </a:pPr>
            <a:r>
              <a:t>R:R was 2.8:1 at entry</a:t>
            </a:r>
          </a:p>
        </p:txBody>
      </p:sp>
      <p:sp>
        <p:nvSpPr>
          <p:cNvPr id="25" name="TextBox 24"/>
          <p:cNvSpPr txBox="1"/>
          <p:nvPr/>
        </p:nvSpPr>
        <p:spPr>
          <a:xfrm>
            <a:off x="6400800" y="4389120"/>
            <a:ext cx="4572000" cy="228600"/>
          </a:xfrm>
          <a:prstGeom prst="rect">
            <a:avLst/>
          </a:prstGeom>
          <a:noFill/>
        </p:spPr>
        <p:txBody>
          <a:bodyPr wrap="square">
            <a:spAutoFit/>
          </a:bodyPr>
          <a:lstStyle/>
          <a:p>
            <a:pPr algn="l">
              <a:defRPr sz="1100" b="1">
                <a:solidFill>
                  <a:srgbClr val="FFC107"/>
                </a:solidFill>
                <a:latin typeface="Calibri"/>
              </a:defRPr>
            </a:pPr>
            <a:r>
              <a:t>Thesis delayed (no move)</a:t>
            </a:r>
          </a:p>
        </p:txBody>
      </p:sp>
      <p:sp>
        <p:nvSpPr>
          <p:cNvPr id="26" name="TextBox 25"/>
          <p:cNvSpPr txBox="1"/>
          <p:nvPr/>
        </p:nvSpPr>
        <p:spPr>
          <a:xfrm>
            <a:off x="6400800" y="4617720"/>
            <a:ext cx="2743200" cy="182880"/>
          </a:xfrm>
          <a:prstGeom prst="rect">
            <a:avLst/>
          </a:prstGeom>
          <a:noFill/>
        </p:spPr>
        <p:txBody>
          <a:bodyPr wrap="square">
            <a:spAutoFit/>
          </a:bodyPr>
          <a:lstStyle/>
          <a:p>
            <a:pPr algn="l">
              <a:defRPr sz="1000" b="0">
                <a:solidFill>
                  <a:srgbClr val="FFFFFF"/>
                </a:solidFill>
                <a:latin typeface="Consolas"/>
              </a:defRPr>
            </a:pPr>
            <a:r>
              <a:t>Carry cost ~$350k/yr</a:t>
            </a:r>
          </a:p>
        </p:txBody>
      </p:sp>
      <p:sp>
        <p:nvSpPr>
          <p:cNvPr id="27" name="TextBox 26"/>
          <p:cNvSpPr txBox="1"/>
          <p:nvPr/>
        </p:nvSpPr>
        <p:spPr>
          <a:xfrm>
            <a:off x="8961120" y="4617720"/>
            <a:ext cx="2286000" cy="182880"/>
          </a:xfrm>
          <a:prstGeom prst="rect">
            <a:avLst/>
          </a:prstGeom>
          <a:noFill/>
        </p:spPr>
        <p:txBody>
          <a:bodyPr wrap="square">
            <a:spAutoFit/>
          </a:bodyPr>
          <a:lstStyle/>
          <a:p>
            <a:pPr algn="l">
              <a:defRPr sz="900" b="0">
                <a:solidFill>
                  <a:srgbClr val="778DA9"/>
                </a:solidFill>
                <a:latin typeface="Calibri"/>
              </a:defRPr>
            </a:pPr>
            <a:r>
              <a:t>Time decay is the enemy</a:t>
            </a:r>
          </a:p>
        </p:txBody>
      </p:sp>
      <p:sp>
        <p:nvSpPr>
          <p:cNvPr id="28" name="TextBox 27"/>
          <p:cNvSpPr txBox="1"/>
          <p:nvPr/>
        </p:nvSpPr>
        <p:spPr>
          <a:xfrm>
            <a:off x="6400800" y="5212080"/>
            <a:ext cx="4572000" cy="548640"/>
          </a:xfrm>
          <a:prstGeom prst="rect">
            <a:avLst/>
          </a:prstGeom>
          <a:noFill/>
        </p:spPr>
        <p:txBody>
          <a:bodyPr wrap="square">
            <a:spAutoFit/>
          </a:bodyPr>
          <a:lstStyle/>
          <a:p>
            <a:pPr algn="l">
              <a:defRPr sz="1000" b="1">
                <a:solidFill>
                  <a:srgbClr val="3B82F6"/>
                </a:solidFill>
                <a:latin typeface="Calibri"/>
              </a:defRPr>
            </a:pPr>
            <a:r>
              <a:t>Convexity means the upside accelerates as spreads widen. The risk/reward is asymmetric by design -- this is the core of the strategy.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9144000" cy="457200"/>
          </a:xfrm>
          <a:prstGeom prst="rect">
            <a:avLst/>
          </a:prstGeom>
          <a:noFill/>
        </p:spPr>
        <p:txBody>
          <a:bodyPr wrap="square">
            <a:spAutoFit/>
          </a:bodyPr>
          <a:lstStyle/>
          <a:p>
            <a:pPr algn="l">
              <a:defRPr sz="2400" b="1">
                <a:solidFill>
                  <a:srgbClr val="FFFFFF"/>
                </a:solidFill>
                <a:latin typeface="Calibri"/>
              </a:defRPr>
            </a:pPr>
            <a:r>
              <a:t>RISK ARCHITECTURE</a:t>
            </a:r>
          </a:p>
        </p:txBody>
      </p:sp>
      <p:sp>
        <p:nvSpPr>
          <p:cNvPr id="4" name="TextBox 3"/>
          <p:cNvSpPr txBox="1"/>
          <p:nvPr/>
        </p:nvSpPr>
        <p:spPr>
          <a:xfrm>
            <a:off x="731520" y="594360"/>
            <a:ext cx="9144000" cy="365760"/>
          </a:xfrm>
          <a:prstGeom prst="rect">
            <a:avLst/>
          </a:prstGeom>
          <a:noFill/>
        </p:spPr>
        <p:txBody>
          <a:bodyPr wrap="square">
            <a:spAutoFit/>
          </a:bodyPr>
          <a:lstStyle/>
          <a:p>
            <a:pPr algn="l">
              <a:defRPr sz="1300" b="0">
                <a:solidFill>
                  <a:srgbClr val="778DA9"/>
                </a:solidFill>
                <a:latin typeface="Calibri"/>
              </a:defRPr>
            </a:pPr>
            <a:r>
              <a:t>Hard limits, scenario tools, and worst-case gating</a:t>
            </a:r>
          </a:p>
        </p:txBody>
      </p:sp>
      <p:sp>
        <p:nvSpPr>
          <p:cNvPr id="5" name="TextBox 4"/>
          <p:cNvSpPr txBox="1"/>
          <p:nvPr/>
        </p:nvSpPr>
        <p:spPr>
          <a:xfrm>
            <a:off x="9326880" y="228600"/>
            <a:ext cx="2560320" cy="365760"/>
          </a:xfrm>
          <a:prstGeom prst="rect">
            <a:avLst/>
          </a:prstGeom>
          <a:noFill/>
        </p:spPr>
        <p:txBody>
          <a:bodyPr wrap="square">
            <a:spAutoFit/>
          </a:bodyPr>
          <a:lstStyle/>
          <a:p>
            <a:pPr algn="r">
              <a:defRPr sz="1100" b="1">
                <a:solidFill>
                  <a:srgbClr val="3B82F6"/>
                </a:solidFill>
                <a:latin typeface="Calibri"/>
              </a:defRPr>
            </a:pPr>
            <a:r>
              <a:t>MACRO CREDIT MONITOR</a:t>
            </a:r>
          </a:p>
        </p:txBody>
      </p:sp>
      <p:sp>
        <p:nvSpPr>
          <p:cNvPr id="6" name="TextBox 5"/>
          <p:cNvSpPr txBox="1"/>
          <p:nvPr/>
        </p:nvSpPr>
        <p:spPr>
          <a:xfrm>
            <a:off x="731520" y="6400800"/>
            <a:ext cx="9144000" cy="274320"/>
          </a:xfrm>
          <a:prstGeom prst="rect">
            <a:avLst/>
          </a:prstGeom>
          <a:noFill/>
        </p:spPr>
        <p:txBody>
          <a:bodyPr wrap="square">
            <a:spAutoFit/>
          </a:bodyPr>
          <a:lstStyle/>
          <a:p>
            <a:pPr algn="l">
              <a:defRPr sz="800" b="0">
                <a:solidFill>
                  <a:srgbClr val="778DA9"/>
                </a:solidFill>
                <a:latin typeface="Calibri"/>
              </a:defRPr>
            </a:pPr>
            <a:r>
              <a:t>BRUMMER &amp; PARTNERS PITCH  |  CONFIDENTIAL  |  2026-02-26</a:t>
            </a:r>
          </a:p>
        </p:txBody>
      </p:sp>
      <p:graphicFrame>
        <p:nvGraphicFramePr>
          <p:cNvPr id="7" name="Table 6"/>
          <p:cNvGraphicFramePr>
            <a:graphicFrameLocks noGrp="1"/>
          </p:cNvGraphicFramePr>
          <p:nvPr/>
        </p:nvGraphicFramePr>
        <p:xfrm>
          <a:off x="731520" y="1371600"/>
          <a:ext cx="10058400" cy="2432304"/>
        </p:xfrm>
        <a:graphic>
          <a:graphicData uri="http://schemas.openxmlformats.org/drawingml/2006/table">
            <a:tbl>
              <a:tblPr firstRow="1" bandRow="1">
                <a:tableStyleId>{5C22544A-7EE6-4342-B048-85BDC9FD1C3A}</a:tableStyleId>
              </a:tblPr>
              <a:tblGrid>
                <a:gridCol w="2011680"/>
                <a:gridCol w="1371600"/>
                <a:gridCol w="6675120"/>
              </a:tblGrid>
              <a:tr h="347472">
                <a:tc>
                  <a:txBody>
                    <a:bodyPr/>
                    <a:lstStyle/>
                    <a:p>
                      <a:pPr>
                        <a:defRPr sz="1100" b="1">
                          <a:solidFill>
                            <a:srgbClr val="FFFFFF"/>
                          </a:solidFill>
                          <a:latin typeface="Calibri"/>
                        </a:defRPr>
                      </a:pPr>
                      <a:r>
                        <a:t>Parameter</a:t>
                      </a:r>
                    </a:p>
                  </a:txBody>
                  <a:tcPr>
                    <a:solidFill>
                      <a:srgbClr val="0D1B2A"/>
                    </a:solidFill>
                  </a:tcPr>
                </a:tc>
                <a:tc>
                  <a:txBody>
                    <a:bodyPr/>
                    <a:lstStyle/>
                    <a:p>
                      <a:pPr>
                        <a:defRPr sz="1100" b="1">
                          <a:solidFill>
                            <a:srgbClr val="FFFFFF"/>
                          </a:solidFill>
                          <a:latin typeface="Calibri"/>
                        </a:defRPr>
                      </a:pPr>
                      <a:r>
                        <a:t>Limit</a:t>
                      </a:r>
                    </a:p>
                  </a:txBody>
                  <a:tcPr>
                    <a:solidFill>
                      <a:srgbClr val="0D1B2A"/>
                    </a:solidFill>
                  </a:tcPr>
                </a:tc>
                <a:tc>
                  <a:txBody>
                    <a:bodyPr/>
                    <a:lstStyle/>
                    <a:p>
                      <a:pPr>
                        <a:defRPr sz="1100" b="1">
                          <a:solidFill>
                            <a:srgbClr val="FFFFFF"/>
                          </a:solidFill>
                          <a:latin typeface="Calibri"/>
                        </a:defRPr>
                      </a:pPr>
                      <a:r>
                        <a:t>Action</a:t>
                      </a:r>
                    </a:p>
                  </a:txBody>
                  <a:tcPr>
                    <a:solidFill>
                      <a:srgbClr val="0D1B2A"/>
                    </a:solidFill>
                  </a:tcPr>
                </a:tc>
              </a:tr>
              <a:tr h="347472">
                <a:tc>
                  <a:txBody>
                    <a:bodyPr/>
                    <a:lstStyle/>
                    <a:p>
                      <a:pPr>
                        <a:defRPr sz="1000">
                          <a:solidFill>
                            <a:srgbClr val="212529"/>
                          </a:solidFill>
                          <a:latin typeface="Calibri"/>
                        </a:defRPr>
                      </a:pPr>
                      <a:r>
                        <a:t>Daily Stop-Loss</a:t>
                      </a:r>
                    </a:p>
                  </a:txBody>
                  <a:tcPr>
                    <a:solidFill>
                      <a:srgbClr val="F8F9FA"/>
                    </a:solidFill>
                  </a:tcPr>
                </a:tc>
                <a:tc>
                  <a:txBody>
                    <a:bodyPr/>
                    <a:lstStyle/>
                    <a:p>
                      <a:pPr algn="ctr">
                        <a:defRPr sz="1000" b="1">
                          <a:solidFill>
                            <a:srgbClr val="212529"/>
                          </a:solidFill>
                          <a:latin typeface="Calibri"/>
                        </a:defRPr>
                      </a:pPr>
                      <a:r>
                        <a:t>1.0%</a:t>
                      </a:r>
                    </a:p>
                  </a:txBody>
                  <a:tcPr>
                    <a:solidFill>
                      <a:srgbClr val="F8F9FA"/>
                    </a:solidFill>
                  </a:tcPr>
                </a:tc>
                <a:tc>
                  <a:txBody>
                    <a:bodyPr/>
                    <a:lstStyle/>
                    <a:p>
                      <a:pPr>
                        <a:defRPr sz="1000">
                          <a:solidFill>
                            <a:srgbClr val="212529"/>
                          </a:solidFill>
                          <a:latin typeface="Calibri"/>
                        </a:defRPr>
                      </a:pPr>
                      <a:r>
                        <a:t>Flatten all positions; review before resuming</a:t>
                      </a:r>
                    </a:p>
                  </a:txBody>
                  <a:tcPr>
                    <a:solidFill>
                      <a:srgbClr val="F8F9FA"/>
                    </a:solidFill>
                  </a:tcPr>
                </a:tc>
              </a:tr>
              <a:tr h="347472">
                <a:tc>
                  <a:txBody>
                    <a:bodyPr/>
                    <a:lstStyle/>
                    <a:p>
                      <a:pPr>
                        <a:defRPr sz="1000">
                          <a:solidFill>
                            <a:srgbClr val="212529"/>
                          </a:solidFill>
                          <a:latin typeface="Calibri"/>
                        </a:defRPr>
                      </a:pPr>
                      <a:r>
                        <a:t>Weekly Stop-Loss</a:t>
                      </a:r>
                    </a:p>
                  </a:txBody>
                  <a:tcPr>
                    <a:solidFill>
                      <a:srgbClr val="FFFFFF"/>
                    </a:solidFill>
                  </a:tcPr>
                </a:tc>
                <a:tc>
                  <a:txBody>
                    <a:bodyPr/>
                    <a:lstStyle/>
                    <a:p>
                      <a:pPr algn="ctr">
                        <a:defRPr sz="1000" b="1">
                          <a:solidFill>
                            <a:srgbClr val="212529"/>
                          </a:solidFill>
                          <a:latin typeface="Calibri"/>
                        </a:defRPr>
                      </a:pPr>
                      <a:r>
                        <a:t>2.0%</a:t>
                      </a:r>
                    </a:p>
                  </a:txBody>
                  <a:tcPr>
                    <a:solidFill>
                      <a:srgbClr val="FFFFFF"/>
                    </a:solidFill>
                  </a:tcPr>
                </a:tc>
                <a:tc>
                  <a:txBody>
                    <a:bodyPr/>
                    <a:lstStyle/>
                    <a:p>
                      <a:pPr>
                        <a:defRPr sz="1000">
                          <a:solidFill>
                            <a:srgbClr val="212529"/>
                          </a:solidFill>
                          <a:latin typeface="Calibri"/>
                        </a:defRPr>
                      </a:pPr>
                      <a:r>
                        <a:t>50% risk reduction; regime reassessment</a:t>
                      </a:r>
                    </a:p>
                  </a:txBody>
                  <a:tcPr>
                    <a:solidFill>
                      <a:srgbClr val="FFFFFF"/>
                    </a:solidFill>
                  </a:tcPr>
                </a:tc>
              </a:tr>
              <a:tr h="347472">
                <a:tc>
                  <a:txBody>
                    <a:bodyPr/>
                    <a:lstStyle/>
                    <a:p>
                      <a:pPr>
                        <a:defRPr sz="1000">
                          <a:solidFill>
                            <a:srgbClr val="212529"/>
                          </a:solidFill>
                          <a:latin typeface="Calibri"/>
                        </a:defRPr>
                      </a:pPr>
                      <a:r>
                        <a:t>Monthly Drawdown</a:t>
                      </a:r>
                    </a:p>
                  </a:txBody>
                  <a:tcPr>
                    <a:solidFill>
                      <a:srgbClr val="F8F9FA"/>
                    </a:solidFill>
                  </a:tcPr>
                </a:tc>
                <a:tc>
                  <a:txBody>
                    <a:bodyPr/>
                    <a:lstStyle/>
                    <a:p>
                      <a:pPr algn="ctr">
                        <a:defRPr sz="1000" b="1">
                          <a:solidFill>
                            <a:srgbClr val="212529"/>
                          </a:solidFill>
                          <a:latin typeface="Calibri"/>
                        </a:defRPr>
                      </a:pPr>
                      <a:r>
                        <a:t>3.5%</a:t>
                      </a:r>
                    </a:p>
                  </a:txBody>
                  <a:tcPr>
                    <a:solidFill>
                      <a:srgbClr val="F8F9FA"/>
                    </a:solidFill>
                  </a:tcPr>
                </a:tc>
                <a:tc>
                  <a:txBody>
                    <a:bodyPr/>
                    <a:lstStyle/>
                    <a:p>
                      <a:pPr>
                        <a:defRPr sz="1000">
                          <a:solidFill>
                            <a:srgbClr val="212529"/>
                          </a:solidFill>
                          <a:latin typeface="Calibri"/>
                        </a:defRPr>
                      </a:pPr>
                      <a:r>
                        <a:t>Reduce to 25% risk; CIO approval to rebuild</a:t>
                      </a:r>
                    </a:p>
                  </a:txBody>
                  <a:tcPr>
                    <a:solidFill>
                      <a:srgbClr val="F8F9FA"/>
                    </a:solidFill>
                  </a:tcPr>
                </a:tc>
              </a:tr>
              <a:tr h="347472">
                <a:tc>
                  <a:txBody>
                    <a:bodyPr/>
                    <a:lstStyle/>
                    <a:p>
                      <a:pPr>
                        <a:defRPr sz="1000">
                          <a:solidFill>
                            <a:srgbClr val="212529"/>
                          </a:solidFill>
                          <a:latin typeface="Calibri"/>
                        </a:defRPr>
                      </a:pPr>
                      <a:r>
                        <a:t>Max Peak-to-Trough</a:t>
                      </a:r>
                    </a:p>
                  </a:txBody>
                  <a:tcPr>
                    <a:solidFill>
                      <a:srgbClr val="FFFFFF"/>
                    </a:solidFill>
                  </a:tcPr>
                </a:tc>
                <a:tc>
                  <a:txBody>
                    <a:bodyPr/>
                    <a:lstStyle/>
                    <a:p>
                      <a:pPr algn="ctr">
                        <a:defRPr sz="1000" b="1">
                          <a:solidFill>
                            <a:srgbClr val="212529"/>
                          </a:solidFill>
                          <a:latin typeface="Calibri"/>
                        </a:defRPr>
                      </a:pPr>
                      <a:r>
                        <a:t>5.0%</a:t>
                      </a:r>
                    </a:p>
                  </a:txBody>
                  <a:tcPr>
                    <a:solidFill>
                      <a:srgbClr val="FFFFFF"/>
                    </a:solidFill>
                  </a:tcPr>
                </a:tc>
                <a:tc>
                  <a:txBody>
                    <a:bodyPr/>
                    <a:lstStyle/>
                    <a:p>
                      <a:pPr>
                        <a:defRPr sz="1000">
                          <a:solidFill>
                            <a:srgbClr val="212529"/>
                          </a:solidFill>
                          <a:latin typeface="Calibri"/>
                        </a:defRPr>
                      </a:pPr>
                      <a:r>
                        <a:t>Full de-risk; strategy review with risk committee</a:t>
                      </a:r>
                    </a:p>
                  </a:txBody>
                  <a:tcPr>
                    <a:solidFill>
                      <a:srgbClr val="FFFFFF"/>
                    </a:solidFill>
                  </a:tcPr>
                </a:tc>
              </a:tr>
              <a:tr h="347472">
                <a:tc>
                  <a:txBody>
                    <a:bodyPr/>
                    <a:lstStyle/>
                    <a:p>
                      <a:pPr>
                        <a:defRPr sz="1000">
                          <a:solidFill>
                            <a:srgbClr val="212529"/>
                          </a:solidFill>
                          <a:latin typeface="Calibri"/>
                        </a:defRPr>
                      </a:pPr>
                      <a:r>
                        <a:t>Single-Name Conc.</a:t>
                      </a:r>
                    </a:p>
                  </a:txBody>
                  <a:tcPr>
                    <a:solidFill>
                      <a:srgbClr val="F8F9FA"/>
                    </a:solidFill>
                  </a:tcPr>
                </a:tc>
                <a:tc>
                  <a:txBody>
                    <a:bodyPr/>
                    <a:lstStyle/>
                    <a:p>
                      <a:pPr algn="ctr">
                        <a:defRPr sz="1000" b="1">
                          <a:solidFill>
                            <a:srgbClr val="212529"/>
                          </a:solidFill>
                          <a:latin typeface="Calibri"/>
                        </a:defRPr>
                      </a:pPr>
                      <a:r>
                        <a:t>5%</a:t>
                      </a:r>
                    </a:p>
                  </a:txBody>
                  <a:tcPr>
                    <a:solidFill>
                      <a:srgbClr val="F8F9FA"/>
                    </a:solidFill>
                  </a:tcPr>
                </a:tc>
                <a:tc>
                  <a:txBody>
                    <a:bodyPr/>
                    <a:lstStyle/>
                    <a:p>
                      <a:pPr>
                        <a:defRPr sz="1000">
                          <a:solidFill>
                            <a:srgbClr val="212529"/>
                          </a:solidFill>
                          <a:latin typeface="Calibri"/>
                        </a:defRPr>
                      </a:pPr>
                      <a:r>
                        <a:t>Hard limit -- no exceptions</a:t>
                      </a:r>
                    </a:p>
                  </a:txBody>
                  <a:tcPr>
                    <a:solidFill>
                      <a:srgbClr val="F8F9FA"/>
                    </a:solidFill>
                  </a:tcPr>
                </a:tc>
              </a:tr>
              <a:tr h="347472">
                <a:tc>
                  <a:txBody>
                    <a:bodyPr/>
                    <a:lstStyle/>
                    <a:p>
                      <a:pPr>
                        <a:defRPr sz="1000">
                          <a:solidFill>
                            <a:srgbClr val="212529"/>
                          </a:solidFill>
                          <a:latin typeface="Calibri"/>
                        </a:defRPr>
                      </a:pPr>
                      <a:r>
                        <a:t>Liquidity Test</a:t>
                      </a:r>
                    </a:p>
                  </a:txBody>
                  <a:tcPr>
                    <a:solidFill>
                      <a:srgbClr val="FFFFFF"/>
                    </a:solidFill>
                  </a:tcPr>
                </a:tc>
                <a:tc>
                  <a:txBody>
                    <a:bodyPr/>
                    <a:lstStyle/>
                    <a:p>
                      <a:pPr algn="ctr">
                        <a:defRPr sz="1000" b="1">
                          <a:solidFill>
                            <a:srgbClr val="212529"/>
                          </a:solidFill>
                          <a:latin typeface="Calibri"/>
                        </a:defRPr>
                      </a:pPr>
                      <a:r>
                        <a:t>90% in 5 days</a:t>
                      </a:r>
                    </a:p>
                  </a:txBody>
                  <a:tcPr>
                    <a:solidFill>
                      <a:srgbClr val="FFFFFF"/>
                    </a:solidFill>
                  </a:tcPr>
                </a:tc>
                <a:tc>
                  <a:txBody>
                    <a:bodyPr/>
                    <a:lstStyle/>
                    <a:p>
                      <a:pPr>
                        <a:defRPr sz="1000">
                          <a:solidFill>
                            <a:srgbClr val="212529"/>
                          </a:solidFill>
                          <a:latin typeface="Calibri"/>
                        </a:defRPr>
                      </a:pPr>
                      <a:r>
                        <a:t>Ongoing monitoring -- portfolio must be liquidatable</a:t>
                      </a:r>
                    </a:p>
                  </a:txBody>
                  <a:tcPr>
                    <a:solidFill>
                      <a:srgbClr val="FFFFFF"/>
                    </a:solidFill>
                  </a:tcPr>
                </a:tc>
              </a:tr>
            </a:tbl>
          </a:graphicData>
        </a:graphic>
      </p:graphicFrame>
      <p:sp>
        <p:nvSpPr>
          <p:cNvPr id="8" name="TextBox 7"/>
          <p:cNvSpPr txBox="1"/>
          <p:nvPr/>
        </p:nvSpPr>
        <p:spPr>
          <a:xfrm>
            <a:off x="731520" y="4389120"/>
            <a:ext cx="10728655" cy="274320"/>
          </a:xfrm>
          <a:prstGeom prst="rect">
            <a:avLst/>
          </a:prstGeom>
          <a:noFill/>
        </p:spPr>
        <p:txBody>
          <a:bodyPr wrap="square">
            <a:spAutoFit/>
          </a:bodyPr>
          <a:lstStyle/>
          <a:p>
            <a:pPr algn="l">
              <a:defRPr sz="1400" b="1">
                <a:solidFill>
                  <a:srgbClr val="0D1B2A"/>
                </a:solidFill>
                <a:latin typeface="Calibri"/>
              </a:defRPr>
            </a:pPr>
            <a:r>
              <a:t>SCENARIO TOOLS</a:t>
            </a:r>
          </a:p>
        </p:txBody>
      </p:sp>
      <p:sp>
        <p:nvSpPr>
          <p:cNvPr id="9" name="TextBox 8"/>
          <p:cNvSpPr txBox="1"/>
          <p:nvPr/>
        </p:nvSpPr>
        <p:spPr>
          <a:xfrm>
            <a:off x="731520" y="4754880"/>
            <a:ext cx="10728655" cy="1828800"/>
          </a:xfrm>
          <a:prstGeom prst="rect">
            <a:avLst/>
          </a:prstGeom>
          <a:noFill/>
        </p:spPr>
        <p:txBody>
          <a:bodyPr wrap="square">
            <a:spAutoFit/>
          </a:bodyPr>
          <a:lstStyle/>
          <a:p>
            <a:pPr algn="l">
              <a:defRPr sz="1100" b="0">
                <a:solidFill>
                  <a:srgbClr val="415A77"/>
                </a:solidFill>
                <a:latin typeface="Calibri"/>
              </a:defRPr>
            </a:pPr>
          </a:p>
          <a:p>
            <a:pPr algn="l">
              <a:spcBef>
                <a:spcPts val="200"/>
              </a:spcBef>
              <a:spcAft>
                <a:spcPts val="0"/>
              </a:spcAft>
              <a:defRPr sz="1000" b="0">
                <a:solidFill>
                  <a:srgbClr val="415A77"/>
                </a:solidFill>
                <a:latin typeface="Calibri"/>
              </a:defRPr>
            </a:pPr>
            <a:r>
              <a:t>   8 macro scenario stress tests with non-uniform sector/rating shocks and exact CDS re-pricing</a:t>
            </a:r>
          </a:p>
          <a:p>
            <a:pPr algn="l">
              <a:spcBef>
                <a:spcPts val="200"/>
              </a:spcBef>
              <a:spcAft>
                <a:spcPts val="0"/>
              </a:spcAft>
              <a:defRPr sz="1000" b="0">
                <a:solidFill>
                  <a:srgbClr val="415A77"/>
                </a:solidFill>
                <a:latin typeface="Calibri"/>
              </a:defRPr>
            </a:pPr>
            <a:r>
              <a:t>   Full tranche reprice with convexity -- not DV01 approximations</a:t>
            </a:r>
          </a:p>
          <a:p>
            <a:pPr algn="l">
              <a:spcBef>
                <a:spcPts val="200"/>
              </a:spcBef>
              <a:spcAft>
                <a:spcPts val="0"/>
              </a:spcAft>
              <a:defRPr sz="1000" b="0">
                <a:solidFill>
                  <a:srgbClr val="415A77"/>
                </a:solidFill>
                <a:latin typeface="Calibri"/>
              </a:defRPr>
            </a:pPr>
            <a:r>
              <a:t>   Single-name blowout analysis with CS01 acceleration and JTD payoff</a:t>
            </a:r>
          </a:p>
          <a:p>
            <a:pPr algn="l">
              <a:spcBef>
                <a:spcPts val="200"/>
              </a:spcBef>
              <a:spcAft>
                <a:spcPts val="0"/>
              </a:spcAft>
              <a:defRPr sz="1000" b="0">
                <a:solidFill>
                  <a:srgbClr val="415A77"/>
                </a:solidFill>
                <a:latin typeface="Calibri"/>
              </a:defRPr>
            </a:pPr>
            <a:r>
              <a:t>   Daily P&amp;L attribution by direction, sector, rating bucket, and position type</a:t>
            </a:r>
          </a:p>
          <a:p>
            <a:pPr algn="l">
              <a:spcBef>
                <a:spcPts val="200"/>
              </a:spcBef>
              <a:spcAft>
                <a:spcPts val="0"/>
              </a:spcAft>
              <a:defRPr sz="1000" b="0">
                <a:solidFill>
                  <a:srgbClr val="415A77"/>
                </a:solidFill>
                <a:latin typeface="Calibri"/>
              </a:defRPr>
            </a:pPr>
            <a:r>
              <a:t>   Parametric VaR (95/99) and CVaR with spread/correlation factor decomposition</a:t>
            </a:r>
          </a:p>
          <a:p>
            <a:pPr algn="l">
              <a:spcBef>
                <a:spcPts val="200"/>
              </a:spcBef>
              <a:spcAft>
                <a:spcPts val="0"/>
              </a:spcAft>
              <a:defRPr sz="1000" b="0">
                <a:solidFill>
                  <a:srgbClr val="415A77"/>
                </a:solidFill>
                <a:latin typeface="Calibri"/>
              </a:defRPr>
            </a:pPr>
            <a:r>
              <a:t>   Hedge effectiveness tracking across all stress scenarios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9144000" cy="457200"/>
          </a:xfrm>
          <a:prstGeom prst="rect">
            <a:avLst/>
          </a:prstGeom>
          <a:noFill/>
        </p:spPr>
        <p:txBody>
          <a:bodyPr wrap="square">
            <a:spAutoFit/>
          </a:bodyPr>
          <a:lstStyle/>
          <a:p>
            <a:pPr algn="l">
              <a:defRPr sz="2400" b="1">
                <a:solidFill>
                  <a:srgbClr val="FFFFFF"/>
                </a:solidFill>
                <a:latin typeface="Calibri"/>
              </a:defRPr>
            </a:pPr>
            <a:r>
              <a:t>STRESS SCENARIOS</a:t>
            </a:r>
          </a:p>
        </p:txBody>
      </p:sp>
      <p:sp>
        <p:nvSpPr>
          <p:cNvPr id="4" name="TextBox 3"/>
          <p:cNvSpPr txBox="1"/>
          <p:nvPr/>
        </p:nvSpPr>
        <p:spPr>
          <a:xfrm>
            <a:off x="731520" y="594360"/>
            <a:ext cx="9144000" cy="365760"/>
          </a:xfrm>
          <a:prstGeom prst="rect">
            <a:avLst/>
          </a:prstGeom>
          <a:noFill/>
        </p:spPr>
        <p:txBody>
          <a:bodyPr wrap="square">
            <a:spAutoFit/>
          </a:bodyPr>
          <a:lstStyle/>
          <a:p>
            <a:pPr algn="l">
              <a:defRPr sz="1300" b="0">
                <a:solidFill>
                  <a:srgbClr val="778DA9"/>
                </a:solidFill>
                <a:latin typeface="Calibri"/>
              </a:defRPr>
            </a:pPr>
            <a:r>
              <a:t>8 macro environments -- full reprice P&amp;L with exact CDS re-pricing</a:t>
            </a:r>
          </a:p>
        </p:txBody>
      </p:sp>
      <p:sp>
        <p:nvSpPr>
          <p:cNvPr id="5" name="TextBox 4"/>
          <p:cNvSpPr txBox="1"/>
          <p:nvPr/>
        </p:nvSpPr>
        <p:spPr>
          <a:xfrm>
            <a:off x="9326880" y="228600"/>
            <a:ext cx="2560320" cy="365760"/>
          </a:xfrm>
          <a:prstGeom prst="rect">
            <a:avLst/>
          </a:prstGeom>
          <a:noFill/>
        </p:spPr>
        <p:txBody>
          <a:bodyPr wrap="square">
            <a:spAutoFit/>
          </a:bodyPr>
          <a:lstStyle/>
          <a:p>
            <a:pPr algn="r">
              <a:defRPr sz="1100" b="1">
                <a:solidFill>
                  <a:srgbClr val="3B82F6"/>
                </a:solidFill>
                <a:latin typeface="Calibri"/>
              </a:defRPr>
            </a:pPr>
            <a:r>
              <a:t>MACRO CREDIT MONITOR</a:t>
            </a:r>
          </a:p>
        </p:txBody>
      </p:sp>
      <p:sp>
        <p:nvSpPr>
          <p:cNvPr id="6" name="TextBox 5"/>
          <p:cNvSpPr txBox="1"/>
          <p:nvPr/>
        </p:nvSpPr>
        <p:spPr>
          <a:xfrm>
            <a:off x="731520" y="6400800"/>
            <a:ext cx="9144000" cy="274320"/>
          </a:xfrm>
          <a:prstGeom prst="rect">
            <a:avLst/>
          </a:prstGeom>
          <a:noFill/>
        </p:spPr>
        <p:txBody>
          <a:bodyPr wrap="square">
            <a:spAutoFit/>
          </a:bodyPr>
          <a:lstStyle/>
          <a:p>
            <a:pPr algn="l">
              <a:defRPr sz="800" b="0">
                <a:solidFill>
                  <a:srgbClr val="778DA9"/>
                </a:solidFill>
                <a:latin typeface="Calibri"/>
              </a:defRPr>
            </a:pPr>
            <a:r>
              <a:t>BRUMMER &amp; PARTNERS PITCH  |  CONFIDENTIAL  |  2026-02-26</a:t>
            </a:r>
          </a:p>
        </p:txBody>
      </p:sp>
      <p:graphicFrame>
        <p:nvGraphicFramePr>
          <p:cNvPr id="7" name="Table 6"/>
          <p:cNvGraphicFramePr>
            <a:graphicFrameLocks noGrp="1"/>
          </p:cNvGraphicFramePr>
          <p:nvPr/>
        </p:nvGraphicFramePr>
        <p:xfrm>
          <a:off x="731520" y="1371600"/>
          <a:ext cx="10058400" cy="3127248"/>
        </p:xfrm>
        <a:graphic>
          <a:graphicData uri="http://schemas.openxmlformats.org/drawingml/2006/table">
            <a:tbl>
              <a:tblPr firstRow="1" bandRow="1">
                <a:tableStyleId>{5C22544A-7EE6-4342-B048-85BDC9FD1C3A}</a:tableStyleId>
              </a:tblPr>
              <a:tblGrid>
                <a:gridCol w="2286000"/>
                <a:gridCol w="2286000"/>
                <a:gridCol w="2743200"/>
                <a:gridCol w="2743200"/>
              </a:tblGrid>
              <a:tr h="347472">
                <a:tc>
                  <a:txBody>
                    <a:bodyPr/>
                    <a:lstStyle/>
                    <a:p>
                      <a:pPr>
                        <a:defRPr sz="1100" b="1">
                          <a:solidFill>
                            <a:srgbClr val="FFFFFF"/>
                          </a:solidFill>
                        </a:defRPr>
                      </a:pPr>
                      <a:r>
                        <a:t>Scenario</a:t>
                      </a:r>
                    </a:p>
                  </a:txBody>
                  <a:tcPr>
                    <a:solidFill>
                      <a:srgbClr val="0D1B2A"/>
                    </a:solidFill>
                  </a:tcPr>
                </a:tc>
                <a:tc>
                  <a:txBody>
                    <a:bodyPr/>
                    <a:lstStyle/>
                    <a:p>
                      <a:pPr>
                        <a:defRPr sz="1100" b="1">
                          <a:solidFill>
                            <a:srgbClr val="FFFFFF"/>
                          </a:solidFill>
                        </a:defRPr>
                      </a:pPr>
                      <a:r>
                        <a:t>Description</a:t>
                      </a:r>
                    </a:p>
                  </a:txBody>
                  <a:tcPr>
                    <a:solidFill>
                      <a:srgbClr val="0D1B2A"/>
                    </a:solidFill>
                  </a:tcPr>
                </a:tc>
                <a:tc>
                  <a:txBody>
                    <a:bodyPr/>
                    <a:lstStyle/>
                    <a:p>
                      <a:pPr>
                        <a:defRPr sz="1100" b="1">
                          <a:solidFill>
                            <a:srgbClr val="FFFFFF"/>
                          </a:solidFill>
                        </a:defRPr>
                      </a:pPr>
                      <a:r>
                        <a:t>Spread Shock</a:t>
                      </a:r>
                    </a:p>
                  </a:txBody>
                  <a:tcPr>
                    <a:solidFill>
                      <a:srgbClr val="0D1B2A"/>
                    </a:solidFill>
                  </a:tcPr>
                </a:tc>
                <a:tc>
                  <a:txBody>
                    <a:bodyPr/>
                    <a:lstStyle/>
                    <a:p>
                      <a:pPr>
                        <a:defRPr sz="1100" b="1">
                          <a:solidFill>
                            <a:srgbClr val="FFFFFF"/>
                          </a:solidFill>
                        </a:defRPr>
                      </a:pPr>
                      <a:r>
                        <a:t>Key Feature</a:t>
                      </a:r>
                    </a:p>
                  </a:txBody>
                  <a:tcPr>
                    <a:solidFill>
                      <a:srgbClr val="0D1B2A"/>
                    </a:solidFill>
                  </a:tcPr>
                </a:tc>
              </a:tr>
              <a:tr h="347472">
                <a:tc>
                  <a:txBody>
                    <a:bodyPr/>
                    <a:lstStyle/>
                    <a:p>
                      <a:pPr>
                        <a:defRPr sz="900">
                          <a:solidFill>
                            <a:srgbClr val="212529"/>
                          </a:solidFill>
                        </a:defRPr>
                      </a:pPr>
                      <a:r>
                        <a:t>ECB Cuts 50bp</a:t>
                      </a:r>
                    </a:p>
                  </a:txBody>
                  <a:tcPr>
                    <a:solidFill>
                      <a:srgbClr val="F8F9FA"/>
                    </a:solidFill>
                  </a:tcPr>
                </a:tc>
                <a:tc>
                  <a:txBody>
                    <a:bodyPr/>
                    <a:lstStyle/>
                    <a:p>
                      <a:pPr>
                        <a:defRPr sz="900">
                          <a:solidFill>
                            <a:srgbClr val="212529"/>
                          </a:solidFill>
                        </a:defRPr>
                      </a:pPr>
                      <a:r>
                        <a:t>Risk-on rally</a:t>
                      </a:r>
                    </a:p>
                  </a:txBody>
                  <a:tcPr>
                    <a:solidFill>
                      <a:srgbClr val="F8F9FA"/>
                    </a:solidFill>
                  </a:tcPr>
                </a:tc>
                <a:tc>
                  <a:txBody>
                    <a:bodyPr/>
                    <a:lstStyle/>
                    <a:p>
                      <a:pPr>
                        <a:defRPr sz="900" b="1">
                          <a:solidFill>
                            <a:srgbClr val="28A745"/>
                          </a:solidFill>
                        </a:defRPr>
                      </a:pPr>
                      <a:r>
                        <a:t>-30 to -50bp</a:t>
                      </a:r>
                    </a:p>
                  </a:txBody>
                  <a:tcPr>
                    <a:solidFill>
                      <a:srgbClr val="F8F9FA"/>
                    </a:solidFill>
                  </a:tcPr>
                </a:tc>
                <a:tc>
                  <a:txBody>
                    <a:bodyPr/>
                    <a:lstStyle/>
                    <a:p>
                      <a:pPr>
                        <a:defRPr sz="900">
                          <a:solidFill>
                            <a:srgbClr val="212529"/>
                          </a:solidFill>
                        </a:defRPr>
                      </a:pPr>
                      <a:r>
                        <a:t>CCC names rally hardest; Consumer/TMT benefit most</a:t>
                      </a:r>
                    </a:p>
                  </a:txBody>
                  <a:tcPr>
                    <a:solidFill>
                      <a:srgbClr val="F8F9FA"/>
                    </a:solidFill>
                  </a:tcPr>
                </a:tc>
              </a:tr>
              <a:tr h="347472">
                <a:tc>
                  <a:txBody>
                    <a:bodyPr/>
                    <a:lstStyle/>
                    <a:p>
                      <a:pPr>
                        <a:defRPr sz="900">
                          <a:solidFill>
                            <a:srgbClr val="212529"/>
                          </a:solidFill>
                        </a:defRPr>
                      </a:pPr>
                      <a:r>
                        <a:t>ECB Hikes 25bp</a:t>
                      </a:r>
                    </a:p>
                  </a:txBody>
                  <a:tcPr>
                    <a:solidFill>
                      <a:srgbClr val="FFFFFF"/>
                    </a:solidFill>
                  </a:tcPr>
                </a:tc>
                <a:tc>
                  <a:txBody>
                    <a:bodyPr/>
                    <a:lstStyle/>
                    <a:p>
                      <a:pPr>
                        <a:defRPr sz="900">
                          <a:solidFill>
                            <a:srgbClr val="212529"/>
                          </a:solidFill>
                        </a:defRPr>
                      </a:pPr>
                      <a:r>
                        <a:t>Hawkish surprise</a:t>
                      </a:r>
                    </a:p>
                  </a:txBody>
                  <a:tcPr>
                    <a:solidFill>
                      <a:srgbClr val="FFFFFF"/>
                    </a:solidFill>
                  </a:tcPr>
                </a:tc>
                <a:tc>
                  <a:txBody>
                    <a:bodyPr/>
                    <a:lstStyle/>
                    <a:p>
                      <a:pPr>
                        <a:defRPr sz="900" b="1">
                          <a:solidFill>
                            <a:srgbClr val="DC3545"/>
                          </a:solidFill>
                        </a:defRPr>
                      </a:pPr>
                      <a:r>
                        <a:t>+20 to +40bp</a:t>
                      </a:r>
                    </a:p>
                  </a:txBody>
                  <a:tcPr>
                    <a:solidFill>
                      <a:srgbClr val="FFFFFF"/>
                    </a:solidFill>
                  </a:tcPr>
                </a:tc>
                <a:tc>
                  <a:txBody>
                    <a:bodyPr/>
                    <a:lstStyle/>
                    <a:p>
                      <a:pPr>
                        <a:defRPr sz="900">
                          <a:solidFill>
                            <a:srgbClr val="212529"/>
                          </a:solidFill>
                        </a:defRPr>
                      </a:pPr>
                      <a:r>
                        <a:t>CCC names hit hardest; Autos &amp; Industrials widest</a:t>
                      </a:r>
                    </a:p>
                  </a:txBody>
                  <a:tcPr>
                    <a:solidFill>
                      <a:srgbClr val="FFFFFF"/>
                    </a:solidFill>
                  </a:tcPr>
                </a:tc>
              </a:tr>
              <a:tr h="347472">
                <a:tc>
                  <a:txBody>
                    <a:bodyPr/>
                    <a:lstStyle/>
                    <a:p>
                      <a:pPr>
                        <a:defRPr sz="900">
                          <a:solidFill>
                            <a:srgbClr val="212529"/>
                          </a:solidFill>
                        </a:defRPr>
                      </a:pPr>
                      <a:r>
                        <a:t>European Recession</a:t>
                      </a:r>
                    </a:p>
                  </a:txBody>
                  <a:tcPr>
                    <a:solidFill>
                      <a:srgbClr val="F8F9FA"/>
                    </a:solidFill>
                  </a:tcPr>
                </a:tc>
                <a:tc>
                  <a:txBody>
                    <a:bodyPr/>
                    <a:lstStyle/>
                    <a:p>
                      <a:pPr>
                        <a:defRPr sz="900">
                          <a:solidFill>
                            <a:srgbClr val="212529"/>
                          </a:solidFill>
                        </a:defRPr>
                      </a:pPr>
                      <a:r>
                        <a:t>Deep widening</a:t>
                      </a:r>
                    </a:p>
                  </a:txBody>
                  <a:tcPr>
                    <a:solidFill>
                      <a:srgbClr val="F8F9FA"/>
                    </a:solidFill>
                  </a:tcPr>
                </a:tc>
                <a:tc>
                  <a:txBody>
                    <a:bodyPr/>
                    <a:lstStyle/>
                    <a:p>
                      <a:pPr>
                        <a:defRPr sz="900" b="1">
                          <a:solidFill>
                            <a:srgbClr val="DC3545"/>
                          </a:solidFill>
                        </a:defRPr>
                      </a:pPr>
                      <a:r>
                        <a:t>+100 to +250bp</a:t>
                      </a:r>
                    </a:p>
                  </a:txBody>
                  <a:tcPr>
                    <a:solidFill>
                      <a:srgbClr val="F8F9FA"/>
                    </a:solidFill>
                  </a:tcPr>
                </a:tc>
                <a:tc>
                  <a:txBody>
                    <a:bodyPr/>
                    <a:lstStyle/>
                    <a:p>
                      <a:pPr>
                        <a:defRPr sz="900">
                          <a:solidFill>
                            <a:srgbClr val="212529"/>
                          </a:solidFill>
                        </a:defRPr>
                      </a:pPr>
                      <a:r>
                        <a:t>Consumer discretionary and Autos hardest hit; CCC names gap wider</a:t>
                      </a:r>
                    </a:p>
                  </a:txBody>
                  <a:tcPr>
                    <a:solidFill>
                      <a:srgbClr val="F8F9FA"/>
                    </a:solidFill>
                  </a:tcPr>
                </a:tc>
              </a:tr>
              <a:tr h="347472">
                <a:tc>
                  <a:txBody>
                    <a:bodyPr/>
                    <a:lstStyle/>
                    <a:p>
                      <a:pPr>
                        <a:defRPr sz="900">
                          <a:solidFill>
                            <a:srgbClr val="212529"/>
                          </a:solidFill>
                        </a:defRPr>
                      </a:pPr>
                      <a:r>
                        <a:t>China Credit Crisis</a:t>
                      </a:r>
                    </a:p>
                  </a:txBody>
                  <a:tcPr>
                    <a:solidFill>
                      <a:srgbClr val="FFFFFF"/>
                    </a:solidFill>
                  </a:tcPr>
                </a:tc>
                <a:tc>
                  <a:txBody>
                    <a:bodyPr/>
                    <a:lstStyle/>
                    <a:p>
                      <a:pPr>
                        <a:defRPr sz="900">
                          <a:solidFill>
                            <a:srgbClr val="212529"/>
                          </a:solidFill>
                        </a:defRPr>
                      </a:pPr>
                      <a:r>
                        <a:t>Global contagion</a:t>
                      </a:r>
                    </a:p>
                  </a:txBody>
                  <a:tcPr>
                    <a:solidFill>
                      <a:srgbClr val="FFFFFF"/>
                    </a:solidFill>
                  </a:tcPr>
                </a:tc>
                <a:tc>
                  <a:txBody>
                    <a:bodyPr/>
                    <a:lstStyle/>
                    <a:p>
                      <a:pPr>
                        <a:defRPr sz="900" b="1">
                          <a:solidFill>
                            <a:srgbClr val="DC3545"/>
                          </a:solidFill>
                        </a:defRPr>
                      </a:pPr>
                      <a:r>
                        <a:t>+50 to +100bp</a:t>
                      </a:r>
                    </a:p>
                  </a:txBody>
                  <a:tcPr>
                    <a:solidFill>
                      <a:srgbClr val="FFFFFF"/>
                    </a:solidFill>
                  </a:tcPr>
                </a:tc>
                <a:tc>
                  <a:txBody>
                    <a:bodyPr/>
                    <a:lstStyle/>
                    <a:p>
                      <a:pPr>
                        <a:defRPr sz="900">
                          <a:solidFill>
                            <a:srgbClr val="212529"/>
                          </a:solidFill>
                        </a:defRPr>
                      </a:pPr>
                      <a:r>
                        <a:t>Autos widest (+40% extra) due to China supply chain exposure</a:t>
                      </a:r>
                    </a:p>
                  </a:txBody>
                  <a:tcPr>
                    <a:solidFill>
                      <a:srgbClr val="FFFFFF"/>
                    </a:solidFill>
                  </a:tcPr>
                </a:tc>
              </a:tr>
              <a:tr h="347472">
                <a:tc>
                  <a:txBody>
                    <a:bodyPr/>
                    <a:lstStyle/>
                    <a:p>
                      <a:pPr>
                        <a:defRPr sz="900">
                          <a:solidFill>
                            <a:srgbClr val="212529"/>
                          </a:solidFill>
                        </a:defRPr>
                      </a:pPr>
                      <a:r>
                        <a:t>Sovereign Stress</a:t>
                      </a:r>
                    </a:p>
                  </a:txBody>
                  <a:tcPr>
                    <a:solidFill>
                      <a:srgbClr val="F8F9FA"/>
                    </a:solidFill>
                  </a:tcPr>
                </a:tc>
                <a:tc>
                  <a:txBody>
                    <a:bodyPr/>
                    <a:lstStyle/>
                    <a:p>
                      <a:pPr>
                        <a:defRPr sz="900">
                          <a:solidFill>
                            <a:srgbClr val="212529"/>
                          </a:solidFill>
                        </a:defRPr>
                      </a:pPr>
                      <a:r>
                        <a:t>Italy/France crisis</a:t>
                      </a:r>
                    </a:p>
                  </a:txBody>
                  <a:tcPr>
                    <a:solidFill>
                      <a:srgbClr val="F8F9FA"/>
                    </a:solidFill>
                  </a:tcPr>
                </a:tc>
                <a:tc>
                  <a:txBody>
                    <a:bodyPr/>
                    <a:lstStyle/>
                    <a:p>
                      <a:pPr>
                        <a:defRPr sz="900" b="1">
                          <a:solidFill>
                            <a:srgbClr val="DC3545"/>
                          </a:solidFill>
                        </a:defRPr>
                      </a:pPr>
                      <a:r>
                        <a:t>+50 to +100bp</a:t>
                      </a:r>
                    </a:p>
                  </a:txBody>
                  <a:tcPr>
                    <a:solidFill>
                      <a:srgbClr val="F8F9FA"/>
                    </a:solidFill>
                  </a:tcPr>
                </a:tc>
                <a:tc>
                  <a:txBody>
                    <a:bodyPr/>
                    <a:lstStyle/>
                    <a:p>
                      <a:pPr>
                        <a:defRPr sz="900">
                          <a:solidFill>
                            <a:srgbClr val="212529"/>
                          </a:solidFill>
                        </a:defRPr>
                      </a:pPr>
                      <a:r>
                        <a:t>Financials widest (+50%); sovereign-bank nexus drives contagion</a:t>
                      </a:r>
                    </a:p>
                  </a:txBody>
                  <a:tcPr>
                    <a:solidFill>
                      <a:srgbClr val="F8F9FA"/>
                    </a:solidFill>
                  </a:tcPr>
                </a:tc>
              </a:tr>
              <a:tr h="347472">
                <a:tc>
                  <a:txBody>
                    <a:bodyPr/>
                    <a:lstStyle/>
                    <a:p>
                      <a:pPr>
                        <a:defRPr sz="900">
                          <a:solidFill>
                            <a:srgbClr val="212529"/>
                          </a:solidFill>
                        </a:defRPr>
                      </a:pPr>
                      <a:r>
                        <a:t>LME Wave</a:t>
                      </a:r>
                    </a:p>
                  </a:txBody>
                  <a:tcPr>
                    <a:solidFill>
                      <a:srgbClr val="FFFFFF"/>
                    </a:solidFill>
                  </a:tcPr>
                </a:tc>
                <a:tc>
                  <a:txBody>
                    <a:bodyPr/>
                    <a:lstStyle/>
                    <a:p>
                      <a:pPr>
                        <a:defRPr sz="900">
                          <a:solidFill>
                            <a:srgbClr val="212529"/>
                          </a:solidFill>
                        </a:defRPr>
                      </a:pPr>
                      <a:r>
                        <a:t>Distressed restructurings</a:t>
                      </a:r>
                    </a:p>
                  </a:txBody>
                  <a:tcPr>
                    <a:solidFill>
                      <a:srgbClr val="FFFFFF"/>
                    </a:solidFill>
                  </a:tcPr>
                </a:tc>
                <a:tc>
                  <a:txBody>
                    <a:bodyPr/>
                    <a:lstStyle/>
                    <a:p>
                      <a:pPr>
                        <a:defRPr sz="900" b="1">
                          <a:solidFill>
                            <a:srgbClr val="DC3545"/>
                          </a:solidFill>
                        </a:defRPr>
                      </a:pPr>
                      <a:r>
                        <a:t>Named: +250 to +400bp</a:t>
                      </a:r>
                    </a:p>
                  </a:txBody>
                  <a:tcPr>
                    <a:solidFill>
                      <a:srgbClr val="FFFFFF"/>
                    </a:solidFill>
                  </a:tcPr>
                </a:tc>
                <a:tc>
                  <a:txBody>
                    <a:bodyPr/>
                    <a:lstStyle/>
                    <a:p>
                      <a:pPr>
                        <a:defRPr sz="900">
                          <a:solidFill>
                            <a:srgbClr val="212529"/>
                          </a:solidFill>
                        </a:defRPr>
                      </a:pPr>
                      <a:r>
                        <a:t>INEOS, Worldline, Sherwood named; contagion lifts B names +50bp</a:t>
                      </a:r>
                    </a:p>
                  </a:txBody>
                  <a:tcPr>
                    <a:solidFill>
                      <a:srgbClr val="FFFFFF"/>
                    </a:solidFill>
                  </a:tcPr>
                </a:tc>
              </a:tr>
              <a:tr h="347472">
                <a:tc>
                  <a:txBody>
                    <a:bodyPr/>
                    <a:lstStyle/>
                    <a:p>
                      <a:pPr>
                        <a:defRPr sz="900">
                          <a:solidFill>
                            <a:srgbClr val="212529"/>
                          </a:solidFill>
                        </a:defRPr>
                      </a:pPr>
                      <a:r>
                        <a:t>Fallen Angel Cascade</a:t>
                      </a:r>
                    </a:p>
                  </a:txBody>
                  <a:tcPr>
                    <a:solidFill>
                      <a:srgbClr val="F8F9FA"/>
                    </a:solidFill>
                  </a:tcPr>
                </a:tc>
                <a:tc>
                  <a:txBody>
                    <a:bodyPr/>
                    <a:lstStyle/>
                    <a:p>
                      <a:pPr>
                        <a:defRPr sz="900">
                          <a:solidFill>
                            <a:srgbClr val="212529"/>
                          </a:solidFill>
                        </a:defRPr>
                      </a:pPr>
                      <a:r>
                        <a:t>BBB downgrades flood HY</a:t>
                      </a:r>
                    </a:p>
                  </a:txBody>
                  <a:tcPr>
                    <a:solidFill>
                      <a:srgbClr val="F8F9FA"/>
                    </a:solidFill>
                  </a:tcPr>
                </a:tc>
                <a:tc>
                  <a:txBody>
                    <a:bodyPr/>
                    <a:lstStyle/>
                    <a:p>
                      <a:pPr>
                        <a:defRPr sz="900" b="1">
                          <a:solidFill>
                            <a:srgbClr val="DC3545"/>
                          </a:solidFill>
                        </a:defRPr>
                      </a:pPr>
                      <a:r>
                        <a:t>+30 to +60bp</a:t>
                      </a:r>
                    </a:p>
                  </a:txBody>
                  <a:tcPr>
                    <a:solidFill>
                      <a:srgbClr val="F8F9FA"/>
                    </a:solidFill>
                  </a:tcPr>
                </a:tc>
                <a:tc>
                  <a:txBody>
                    <a:bodyPr/>
                    <a:lstStyle/>
                    <a:p>
                      <a:pPr>
                        <a:defRPr sz="900">
                          <a:solidFill>
                            <a:srgbClr val="212529"/>
                          </a:solidFill>
                        </a:defRPr>
                      </a:pPr>
                      <a:r>
                        <a:t>BB names widest (+60bp) from new HY supply flooding index</a:t>
                      </a:r>
                    </a:p>
                  </a:txBody>
                  <a:tcPr>
                    <a:solidFill>
                      <a:srgbClr val="F8F9FA"/>
                    </a:solidFill>
                  </a:tcPr>
                </a:tc>
              </a:tr>
              <a:tr h="347472">
                <a:tc>
                  <a:txBody>
                    <a:bodyPr/>
                    <a:lstStyle/>
                    <a:p>
                      <a:pPr>
                        <a:defRPr sz="900">
                          <a:solidFill>
                            <a:srgbClr val="212529"/>
                          </a:solidFill>
                        </a:defRPr>
                      </a:pPr>
                      <a:r>
                        <a:t>Risk-On Squeeze</a:t>
                      </a:r>
                    </a:p>
                  </a:txBody>
                  <a:tcPr>
                    <a:solidFill>
                      <a:srgbClr val="FFFFFF"/>
                    </a:solidFill>
                  </a:tcPr>
                </a:tc>
                <a:tc>
                  <a:txBody>
                    <a:bodyPr/>
                    <a:lstStyle/>
                    <a:p>
                      <a:pPr>
                        <a:defRPr sz="900">
                          <a:solidFill>
                            <a:srgbClr val="212529"/>
                          </a:solidFill>
                        </a:defRPr>
                      </a:pPr>
                      <a:r>
                        <a:t>Short squeeze rally</a:t>
                      </a:r>
                    </a:p>
                  </a:txBody>
                  <a:tcPr>
                    <a:solidFill>
                      <a:srgbClr val="FFFFFF"/>
                    </a:solidFill>
                  </a:tcPr>
                </a:tc>
                <a:tc>
                  <a:txBody>
                    <a:bodyPr/>
                    <a:lstStyle/>
                    <a:p>
                      <a:pPr>
                        <a:defRPr sz="900" b="1">
                          <a:solidFill>
                            <a:srgbClr val="28A745"/>
                          </a:solidFill>
                        </a:defRPr>
                      </a:pPr>
                      <a:r>
                        <a:t>-40 to -60bp</a:t>
                      </a:r>
                    </a:p>
                  </a:txBody>
                  <a:tcPr>
                    <a:solidFill>
                      <a:srgbClr val="FFFFFF"/>
                    </a:solidFill>
                  </a:tcPr>
                </a:tc>
                <a:tc>
                  <a:txBody>
                    <a:bodyPr/>
                    <a:lstStyle/>
                    <a:p>
                      <a:pPr>
                        <a:defRPr sz="900">
                          <a:solidFill>
                            <a:srgbClr val="212529"/>
                          </a:solidFill>
                        </a:defRPr>
                      </a:pPr>
                      <a:r>
                        <a:t>TMT/Consumers tightest; crowded short positioning unwinds</a:t>
                      </a:r>
                    </a:p>
                  </a:txBody>
                  <a:tcPr>
                    <a:solidFill>
                      <a:srgbClr val="FFFFFF"/>
                    </a:solidFill>
                  </a:tcPr>
                </a:tc>
              </a:tr>
            </a:tbl>
          </a:graphicData>
        </a:graphic>
      </p:graphicFrame>
      <p:sp>
        <p:nvSpPr>
          <p:cNvPr id="8" name="TextBox 7"/>
          <p:cNvSpPr txBox="1"/>
          <p:nvPr/>
        </p:nvSpPr>
        <p:spPr>
          <a:xfrm>
            <a:off x="731520" y="5212080"/>
            <a:ext cx="10728655" cy="914400"/>
          </a:xfrm>
          <a:prstGeom prst="rect">
            <a:avLst/>
          </a:prstGeom>
          <a:noFill/>
        </p:spPr>
        <p:txBody>
          <a:bodyPr wrap="square">
            <a:spAutoFit/>
          </a:bodyPr>
          <a:lstStyle/>
          <a:p>
            <a:pPr algn="l">
              <a:defRPr sz="1000" b="0">
                <a:solidFill>
                  <a:srgbClr val="6B7280"/>
                </a:solidFill>
                <a:latin typeface="Calibri"/>
              </a:defRPr>
            </a:pPr>
            <a:r>
              <a:t>Each scenario applies non-uniform spread shocks by rating bucket, sector, and individual name characteristics. P&amp;L computed by exact CDS re-pricing (not DV01 approximations) with sector heatmap and direction breakdown. Hedge effectiveness tracked across all scenarios.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9144000" cy="457200"/>
          </a:xfrm>
          <a:prstGeom prst="rect">
            <a:avLst/>
          </a:prstGeom>
          <a:noFill/>
        </p:spPr>
        <p:txBody>
          <a:bodyPr wrap="square">
            <a:spAutoFit/>
          </a:bodyPr>
          <a:lstStyle/>
          <a:p>
            <a:pPr algn="l">
              <a:defRPr sz="2400" b="1">
                <a:solidFill>
                  <a:srgbClr val="FFFFFF"/>
                </a:solidFill>
                <a:latin typeface="Calibri"/>
              </a:defRPr>
            </a:pPr>
            <a:r>
              <a:t>TRANCHE SCENARIO ANALYSIS</a:t>
            </a:r>
          </a:p>
        </p:txBody>
      </p:sp>
      <p:sp>
        <p:nvSpPr>
          <p:cNvPr id="4" name="TextBox 3"/>
          <p:cNvSpPr txBox="1"/>
          <p:nvPr/>
        </p:nvSpPr>
        <p:spPr>
          <a:xfrm>
            <a:off x="731520" y="594360"/>
            <a:ext cx="9144000" cy="365760"/>
          </a:xfrm>
          <a:prstGeom prst="rect">
            <a:avLst/>
          </a:prstGeom>
          <a:noFill/>
        </p:spPr>
        <p:txBody>
          <a:bodyPr wrap="square">
            <a:spAutoFit/>
          </a:bodyPr>
          <a:lstStyle/>
          <a:p>
            <a:pPr algn="l">
              <a:defRPr sz="1300" b="0">
                <a:solidFill>
                  <a:srgbClr val="778DA9"/>
                </a:solidFill>
                <a:latin typeface="Calibri"/>
              </a:defRPr>
            </a:pPr>
            <a:r>
              <a:t>Full reprice P&amp;L with convexity -- calibrated from live market</a:t>
            </a:r>
          </a:p>
        </p:txBody>
      </p:sp>
      <p:sp>
        <p:nvSpPr>
          <p:cNvPr id="5" name="TextBox 4"/>
          <p:cNvSpPr txBox="1"/>
          <p:nvPr/>
        </p:nvSpPr>
        <p:spPr>
          <a:xfrm>
            <a:off x="9326880" y="228600"/>
            <a:ext cx="2560320" cy="365760"/>
          </a:xfrm>
          <a:prstGeom prst="rect">
            <a:avLst/>
          </a:prstGeom>
          <a:noFill/>
        </p:spPr>
        <p:txBody>
          <a:bodyPr wrap="square">
            <a:spAutoFit/>
          </a:bodyPr>
          <a:lstStyle/>
          <a:p>
            <a:pPr algn="r">
              <a:defRPr sz="1100" b="1">
                <a:solidFill>
                  <a:srgbClr val="3B82F6"/>
                </a:solidFill>
                <a:latin typeface="Calibri"/>
              </a:defRPr>
            </a:pPr>
            <a:r>
              <a:t>MACRO CREDIT MONITOR</a:t>
            </a:r>
          </a:p>
        </p:txBody>
      </p:sp>
      <p:sp>
        <p:nvSpPr>
          <p:cNvPr id="6" name="TextBox 5"/>
          <p:cNvSpPr txBox="1"/>
          <p:nvPr/>
        </p:nvSpPr>
        <p:spPr>
          <a:xfrm>
            <a:off x="731520" y="6400800"/>
            <a:ext cx="9144000" cy="274320"/>
          </a:xfrm>
          <a:prstGeom prst="rect">
            <a:avLst/>
          </a:prstGeom>
          <a:noFill/>
        </p:spPr>
        <p:txBody>
          <a:bodyPr wrap="square">
            <a:spAutoFit/>
          </a:bodyPr>
          <a:lstStyle/>
          <a:p>
            <a:pPr algn="l">
              <a:defRPr sz="800" b="0">
                <a:solidFill>
                  <a:srgbClr val="778DA9"/>
                </a:solidFill>
                <a:latin typeface="Calibri"/>
              </a:defRPr>
            </a:pPr>
            <a:r>
              <a:t>BRUMMER &amp; PARTNERS PITCH  |  CONFIDENTIAL  |  2026-02-26</a:t>
            </a:r>
          </a:p>
        </p:txBody>
      </p:sp>
      <p:graphicFrame>
        <p:nvGraphicFramePr>
          <p:cNvPr id="7" name="Table 6"/>
          <p:cNvGraphicFramePr>
            <a:graphicFrameLocks noGrp="1"/>
          </p:cNvGraphicFramePr>
          <p:nvPr/>
        </p:nvGraphicFramePr>
        <p:xfrm>
          <a:off x="731520" y="1371600"/>
          <a:ext cx="9601200" cy="1828800"/>
        </p:xfrm>
        <a:graphic>
          <a:graphicData uri="http://schemas.openxmlformats.org/drawingml/2006/table">
            <a:tbl>
              <a:tblPr firstRow="1" bandRow="1">
                <a:tableStyleId>{5C22544A-7EE6-4342-B048-85BDC9FD1C3A}</a:tableStyleId>
              </a:tblPr>
              <a:tblGrid>
                <a:gridCol w="1463040"/>
                <a:gridCol w="640080"/>
                <a:gridCol w="640080"/>
                <a:gridCol w="914400"/>
                <a:gridCol w="822960"/>
                <a:gridCol w="640080"/>
                <a:gridCol w="731520"/>
                <a:gridCol w="914400"/>
                <a:gridCol w="914400"/>
                <a:gridCol w="914400"/>
                <a:gridCol w="1005840"/>
              </a:tblGrid>
              <a:tr h="365760">
                <a:tc>
                  <a:txBody>
                    <a:bodyPr/>
                    <a:lstStyle/>
                    <a:p>
                      <a:pPr algn="ctr">
                        <a:defRPr sz="900" b="1">
                          <a:solidFill>
                            <a:srgbClr val="FFFFFF"/>
                          </a:solidFill>
                        </a:defRPr>
                      </a:pPr>
                      <a:r>
                        <a:t>Tranche</a:t>
                      </a:r>
                    </a:p>
                  </a:txBody>
                  <a:tcPr>
                    <a:solidFill>
                      <a:srgbClr val="0D1B2A"/>
                    </a:solidFill>
                  </a:tcPr>
                </a:tc>
                <a:tc>
                  <a:txBody>
                    <a:bodyPr/>
                    <a:lstStyle/>
                    <a:p>
                      <a:pPr algn="ctr">
                        <a:defRPr sz="900" b="1">
                          <a:solidFill>
                            <a:srgbClr val="FFFFFF"/>
                          </a:solidFill>
                        </a:defRPr>
                      </a:pPr>
                      <a:r>
                        <a:t>Attach</a:t>
                      </a:r>
                    </a:p>
                  </a:txBody>
                  <a:tcPr>
                    <a:solidFill>
                      <a:srgbClr val="0D1B2A"/>
                    </a:solidFill>
                  </a:tcPr>
                </a:tc>
                <a:tc>
                  <a:txBody>
                    <a:bodyPr/>
                    <a:lstStyle/>
                    <a:p>
                      <a:pPr algn="ctr">
                        <a:defRPr sz="900" b="1">
                          <a:solidFill>
                            <a:srgbClr val="FFFFFF"/>
                          </a:solidFill>
                        </a:defRPr>
                      </a:pPr>
                      <a:r>
                        <a:t>Detach</a:t>
                      </a:r>
                    </a:p>
                  </a:txBody>
                  <a:tcPr>
                    <a:solidFill>
                      <a:srgbClr val="0D1B2A"/>
                    </a:solidFill>
                  </a:tcPr>
                </a:tc>
                <a:tc>
                  <a:txBody>
                    <a:bodyPr/>
                    <a:lstStyle/>
                    <a:p>
                      <a:pPr algn="ctr">
                        <a:defRPr sz="900" b="1">
                          <a:solidFill>
                            <a:srgbClr val="FFFFFF"/>
                          </a:solidFill>
                        </a:defRPr>
                      </a:pPr>
                      <a:r>
                        <a:t>Fair Spread</a:t>
                      </a:r>
                    </a:p>
                  </a:txBody>
                  <a:tcPr>
                    <a:solidFill>
                      <a:srgbClr val="0D1B2A"/>
                    </a:solidFill>
                  </a:tcPr>
                </a:tc>
                <a:tc>
                  <a:txBody>
                    <a:bodyPr/>
                    <a:lstStyle/>
                    <a:p>
                      <a:pPr algn="ctr">
                        <a:defRPr sz="900" b="1">
                          <a:solidFill>
                            <a:srgbClr val="FFFFFF"/>
                          </a:solidFill>
                        </a:defRPr>
                      </a:pPr>
                      <a:r>
                        <a:t>CS01</a:t>
                      </a:r>
                    </a:p>
                  </a:txBody>
                  <a:tcPr>
                    <a:solidFill>
                      <a:srgbClr val="0D1B2A"/>
                    </a:solidFill>
                  </a:tcPr>
                </a:tc>
                <a:tc>
                  <a:txBody>
                    <a:bodyPr/>
                    <a:lstStyle/>
                    <a:p>
                      <a:pPr algn="ctr">
                        <a:defRPr sz="900" b="1">
                          <a:solidFill>
                            <a:srgbClr val="FFFFFF"/>
                          </a:solidFill>
                        </a:defRPr>
                      </a:pPr>
                      <a:r>
                        <a:t>Delta</a:t>
                      </a:r>
                    </a:p>
                  </a:txBody>
                  <a:tcPr>
                    <a:solidFill>
                      <a:srgbClr val="0D1B2A"/>
                    </a:solidFill>
                  </a:tcPr>
                </a:tc>
                <a:tc>
                  <a:txBody>
                    <a:bodyPr/>
                    <a:lstStyle/>
                    <a:p>
                      <a:pPr algn="ctr">
                        <a:defRPr sz="900" b="1">
                          <a:solidFill>
                            <a:srgbClr val="FFFFFF"/>
                          </a:solidFill>
                        </a:defRPr>
                      </a:pPr>
                      <a:r>
                        <a:t>Leverage</a:t>
                      </a:r>
                    </a:p>
                  </a:txBody>
                  <a:tcPr>
                    <a:solidFill>
                      <a:srgbClr val="0D1B2A"/>
                    </a:solidFill>
                  </a:tcPr>
                </a:tc>
                <a:tc>
                  <a:txBody>
                    <a:bodyPr/>
                    <a:lstStyle/>
                    <a:p>
                      <a:pPr algn="ctr">
                        <a:defRPr sz="900" b="1">
                          <a:solidFill>
                            <a:srgbClr val="FFFFFF"/>
                          </a:solidFill>
                        </a:defRPr>
                      </a:pPr>
                      <a:r>
                        <a:t>-50bp</a:t>
                      </a:r>
                    </a:p>
                  </a:txBody>
                  <a:tcPr>
                    <a:solidFill>
                      <a:srgbClr val="0D1B2A"/>
                    </a:solidFill>
                  </a:tcPr>
                </a:tc>
                <a:tc>
                  <a:txBody>
                    <a:bodyPr/>
                    <a:lstStyle/>
                    <a:p>
                      <a:pPr algn="ctr">
                        <a:defRPr sz="900" b="1">
                          <a:solidFill>
                            <a:srgbClr val="FFFFFF"/>
                          </a:solidFill>
                        </a:defRPr>
                      </a:pPr>
                      <a:r>
                        <a:t>+25bp</a:t>
                      </a:r>
                    </a:p>
                  </a:txBody>
                  <a:tcPr>
                    <a:solidFill>
                      <a:srgbClr val="0D1B2A"/>
                    </a:solidFill>
                  </a:tcPr>
                </a:tc>
                <a:tc>
                  <a:txBody>
                    <a:bodyPr/>
                    <a:lstStyle/>
                    <a:p>
                      <a:pPr algn="ctr">
                        <a:defRPr sz="900" b="1">
                          <a:solidFill>
                            <a:srgbClr val="FFFFFF"/>
                          </a:solidFill>
                        </a:defRPr>
                      </a:pPr>
                      <a:r>
                        <a:t>+100bp</a:t>
                      </a:r>
                    </a:p>
                  </a:txBody>
                  <a:tcPr>
                    <a:solidFill>
                      <a:srgbClr val="0D1B2A"/>
                    </a:solidFill>
                  </a:tcPr>
                </a:tc>
                <a:tc>
                  <a:txBody>
                    <a:bodyPr/>
                    <a:lstStyle/>
                    <a:p>
                      <a:pPr algn="ctr">
                        <a:defRPr sz="900" b="1">
                          <a:solidFill>
                            <a:srgbClr val="FFFFFF"/>
                          </a:solidFill>
                        </a:defRPr>
                      </a:pPr>
                      <a:r>
                        <a:t>+200bp</a:t>
                      </a:r>
                    </a:p>
                  </a:txBody>
                  <a:tcPr>
                    <a:solidFill>
                      <a:srgbClr val="0D1B2A"/>
                    </a:solidFill>
                  </a:tcPr>
                </a:tc>
              </a:tr>
              <a:tr h="365760">
                <a:tc>
                  <a:txBody>
                    <a:bodyPr/>
                    <a:lstStyle/>
                    <a:p>
                      <a:pPr algn="l">
                        <a:defRPr sz="800">
                          <a:solidFill>
                            <a:srgbClr val="212529"/>
                          </a:solidFill>
                          <a:latin typeface="Consolas"/>
                        </a:defRPr>
                      </a:pPr>
                      <a:r>
                        <a:t>0-10% Equity</a:t>
                      </a:r>
                    </a:p>
                  </a:txBody>
                  <a:tcPr>
                    <a:solidFill>
                      <a:srgbClr val="F8F9FA"/>
                    </a:solidFill>
                  </a:tcPr>
                </a:tc>
                <a:tc>
                  <a:txBody>
                    <a:bodyPr/>
                    <a:lstStyle/>
                    <a:p>
                      <a:pPr algn="ctr">
                        <a:defRPr sz="800">
                          <a:solidFill>
                            <a:srgbClr val="212529"/>
                          </a:solidFill>
                          <a:latin typeface="Consolas"/>
                        </a:defRPr>
                      </a:pPr>
                      <a:r>
                        <a:t>0%</a:t>
                      </a:r>
                    </a:p>
                  </a:txBody>
                  <a:tcPr>
                    <a:solidFill>
                      <a:srgbClr val="F8F9FA"/>
                    </a:solidFill>
                  </a:tcPr>
                </a:tc>
                <a:tc>
                  <a:txBody>
                    <a:bodyPr/>
                    <a:lstStyle/>
                    <a:p>
                      <a:pPr algn="ctr">
                        <a:defRPr sz="800">
                          <a:solidFill>
                            <a:srgbClr val="212529"/>
                          </a:solidFill>
                          <a:latin typeface="Consolas"/>
                        </a:defRPr>
                      </a:pPr>
                      <a:r>
                        <a:t>10%</a:t>
                      </a:r>
                    </a:p>
                  </a:txBody>
                  <a:tcPr>
                    <a:solidFill>
                      <a:srgbClr val="F8F9FA"/>
                    </a:solidFill>
                  </a:tcPr>
                </a:tc>
                <a:tc>
                  <a:txBody>
                    <a:bodyPr/>
                    <a:lstStyle/>
                    <a:p>
                      <a:pPr algn="ctr">
                        <a:defRPr sz="800">
                          <a:solidFill>
                            <a:srgbClr val="212529"/>
                          </a:solidFill>
                          <a:latin typeface="Consolas"/>
                        </a:defRPr>
                      </a:pPr>
                      <a:r>
                        <a:t>2,035bp</a:t>
                      </a:r>
                    </a:p>
                  </a:txBody>
                  <a:tcPr>
                    <a:solidFill>
                      <a:srgbClr val="F8F9FA"/>
                    </a:solidFill>
                  </a:tcPr>
                </a:tc>
                <a:tc>
                  <a:txBody>
                    <a:bodyPr/>
                    <a:lstStyle/>
                    <a:p>
                      <a:pPr algn="ctr">
                        <a:defRPr sz="800">
                          <a:solidFill>
                            <a:srgbClr val="212529"/>
                          </a:solidFill>
                          <a:latin typeface="Consolas"/>
                        </a:defRPr>
                      </a:pPr>
                      <a:r>
                        <a:t>$14,692</a:t>
                      </a:r>
                    </a:p>
                  </a:txBody>
                  <a:tcPr>
                    <a:solidFill>
                      <a:srgbClr val="F8F9FA"/>
                    </a:solidFill>
                  </a:tcPr>
                </a:tc>
                <a:tc>
                  <a:txBody>
                    <a:bodyPr/>
                    <a:lstStyle/>
                    <a:p>
                      <a:pPr algn="ctr">
                        <a:defRPr sz="800">
                          <a:solidFill>
                            <a:srgbClr val="212529"/>
                          </a:solidFill>
                          <a:latin typeface="Consolas"/>
                        </a:defRPr>
                      </a:pPr>
                      <a:r>
                        <a:t>7.57</a:t>
                      </a:r>
                    </a:p>
                  </a:txBody>
                  <a:tcPr>
                    <a:solidFill>
                      <a:srgbClr val="F8F9FA"/>
                    </a:solidFill>
                  </a:tcPr>
                </a:tc>
                <a:tc>
                  <a:txBody>
                    <a:bodyPr/>
                    <a:lstStyle/>
                    <a:p>
                      <a:pPr algn="ctr">
                        <a:defRPr sz="800">
                          <a:solidFill>
                            <a:srgbClr val="212529"/>
                          </a:solidFill>
                          <a:latin typeface="Consolas"/>
                        </a:defRPr>
                      </a:pPr>
                      <a:r>
                        <a:t>75.7x</a:t>
                      </a:r>
                    </a:p>
                  </a:txBody>
                  <a:tcPr>
                    <a:solidFill>
                      <a:srgbClr val="F8F9FA"/>
                    </a:solidFill>
                  </a:tcPr>
                </a:tc>
                <a:tc>
                  <a:txBody>
                    <a:bodyPr/>
                    <a:lstStyle/>
                    <a:p>
                      <a:pPr algn="ctr">
                        <a:defRPr sz="800">
                          <a:solidFill>
                            <a:srgbClr val="28A745"/>
                          </a:solidFill>
                          <a:latin typeface="Consolas"/>
                        </a:defRPr>
                      </a:pPr>
                      <a:r>
                        <a:t>$+806,245</a:t>
                      </a:r>
                    </a:p>
                  </a:txBody>
                  <a:tcPr>
                    <a:solidFill>
                      <a:srgbClr val="F8F9FA"/>
                    </a:solidFill>
                  </a:tcPr>
                </a:tc>
                <a:tc>
                  <a:txBody>
                    <a:bodyPr/>
                    <a:lstStyle/>
                    <a:p>
                      <a:pPr algn="ctr">
                        <a:defRPr sz="800">
                          <a:solidFill>
                            <a:srgbClr val="DC3545"/>
                          </a:solidFill>
                          <a:latin typeface="Consolas"/>
                        </a:defRPr>
                      </a:pPr>
                      <a:r>
                        <a:t>$-351,406</a:t>
                      </a:r>
                    </a:p>
                  </a:txBody>
                  <a:tcPr>
                    <a:solidFill>
                      <a:srgbClr val="F8F9FA"/>
                    </a:solidFill>
                  </a:tcPr>
                </a:tc>
                <a:tc>
                  <a:txBody>
                    <a:bodyPr/>
                    <a:lstStyle/>
                    <a:p>
                      <a:pPr algn="ctr">
                        <a:defRPr sz="800">
                          <a:solidFill>
                            <a:srgbClr val="DC3545"/>
                          </a:solidFill>
                          <a:latin typeface="Consolas"/>
                        </a:defRPr>
                      </a:pPr>
                      <a:r>
                        <a:t>$-1,240,882</a:t>
                      </a:r>
                    </a:p>
                  </a:txBody>
                  <a:tcPr>
                    <a:solidFill>
                      <a:srgbClr val="F8F9FA"/>
                    </a:solidFill>
                  </a:tcPr>
                </a:tc>
                <a:tc>
                  <a:txBody>
                    <a:bodyPr/>
                    <a:lstStyle/>
                    <a:p>
                      <a:pPr algn="ctr">
                        <a:defRPr sz="800">
                          <a:solidFill>
                            <a:srgbClr val="DC3545"/>
                          </a:solidFill>
                          <a:latin typeface="Consolas"/>
                        </a:defRPr>
                      </a:pPr>
                      <a:r>
                        <a:t>$-2,134,503</a:t>
                      </a:r>
                    </a:p>
                  </a:txBody>
                  <a:tcPr>
                    <a:solidFill>
                      <a:srgbClr val="F8F9FA"/>
                    </a:solidFill>
                  </a:tcPr>
                </a:tc>
              </a:tr>
              <a:tr h="365760">
                <a:tc>
                  <a:txBody>
                    <a:bodyPr/>
                    <a:lstStyle/>
                    <a:p>
                      <a:pPr algn="l">
                        <a:defRPr sz="800">
                          <a:solidFill>
                            <a:srgbClr val="212529"/>
                          </a:solidFill>
                          <a:latin typeface="Consolas"/>
                        </a:defRPr>
                      </a:pPr>
                      <a:r>
                        <a:t>10-20% Mezzanine</a:t>
                      </a:r>
                    </a:p>
                  </a:txBody>
                  <a:tcPr>
                    <a:solidFill>
                      <a:srgbClr val="FFFFFF"/>
                    </a:solidFill>
                  </a:tcPr>
                </a:tc>
                <a:tc>
                  <a:txBody>
                    <a:bodyPr/>
                    <a:lstStyle/>
                    <a:p>
                      <a:pPr algn="ctr">
                        <a:defRPr sz="800">
                          <a:solidFill>
                            <a:srgbClr val="212529"/>
                          </a:solidFill>
                          <a:latin typeface="Consolas"/>
                        </a:defRPr>
                      </a:pPr>
                      <a:r>
                        <a:t>10%</a:t>
                      </a:r>
                    </a:p>
                  </a:txBody>
                  <a:tcPr>
                    <a:solidFill>
                      <a:srgbClr val="FFFFFF"/>
                    </a:solidFill>
                  </a:tcPr>
                </a:tc>
                <a:tc>
                  <a:txBody>
                    <a:bodyPr/>
                    <a:lstStyle/>
                    <a:p>
                      <a:pPr algn="ctr">
                        <a:defRPr sz="800">
                          <a:solidFill>
                            <a:srgbClr val="212529"/>
                          </a:solidFill>
                          <a:latin typeface="Consolas"/>
                        </a:defRPr>
                      </a:pPr>
                      <a:r>
                        <a:t>20%</a:t>
                      </a:r>
                    </a:p>
                  </a:txBody>
                  <a:tcPr>
                    <a:solidFill>
                      <a:srgbClr val="FFFFFF"/>
                    </a:solidFill>
                  </a:tcPr>
                </a:tc>
                <a:tc>
                  <a:txBody>
                    <a:bodyPr/>
                    <a:lstStyle/>
                    <a:p>
                      <a:pPr algn="ctr">
                        <a:defRPr sz="800">
                          <a:solidFill>
                            <a:srgbClr val="212529"/>
                          </a:solidFill>
                          <a:latin typeface="Consolas"/>
                        </a:defRPr>
                      </a:pPr>
                      <a:r>
                        <a:t>674bp</a:t>
                      </a:r>
                    </a:p>
                  </a:txBody>
                  <a:tcPr>
                    <a:solidFill>
                      <a:srgbClr val="FFFFFF"/>
                    </a:solidFill>
                  </a:tcPr>
                </a:tc>
                <a:tc>
                  <a:txBody>
                    <a:bodyPr/>
                    <a:lstStyle/>
                    <a:p>
                      <a:pPr algn="ctr">
                        <a:defRPr sz="800">
                          <a:solidFill>
                            <a:srgbClr val="212529"/>
                          </a:solidFill>
                          <a:latin typeface="Consolas"/>
                        </a:defRPr>
                      </a:pPr>
                      <a:r>
                        <a:t>$11,337</a:t>
                      </a:r>
                    </a:p>
                  </a:txBody>
                  <a:tcPr>
                    <a:solidFill>
                      <a:srgbClr val="FFFFFF"/>
                    </a:solidFill>
                  </a:tcPr>
                </a:tc>
                <a:tc>
                  <a:txBody>
                    <a:bodyPr/>
                    <a:lstStyle/>
                    <a:p>
                      <a:pPr algn="ctr">
                        <a:defRPr sz="800">
                          <a:solidFill>
                            <a:srgbClr val="212529"/>
                          </a:solidFill>
                          <a:latin typeface="Consolas"/>
                        </a:defRPr>
                      </a:pPr>
                      <a:r>
                        <a:t>3.34</a:t>
                      </a:r>
                    </a:p>
                  </a:txBody>
                  <a:tcPr>
                    <a:solidFill>
                      <a:srgbClr val="FFFFFF"/>
                    </a:solidFill>
                  </a:tcPr>
                </a:tc>
                <a:tc>
                  <a:txBody>
                    <a:bodyPr/>
                    <a:lstStyle/>
                    <a:p>
                      <a:pPr algn="ctr">
                        <a:defRPr sz="800">
                          <a:solidFill>
                            <a:srgbClr val="212529"/>
                          </a:solidFill>
                          <a:latin typeface="Consolas"/>
                        </a:defRPr>
                      </a:pPr>
                      <a:r>
                        <a:t>33.4x</a:t>
                      </a:r>
                    </a:p>
                  </a:txBody>
                  <a:tcPr>
                    <a:solidFill>
                      <a:srgbClr val="FFFFFF"/>
                    </a:solidFill>
                  </a:tcPr>
                </a:tc>
                <a:tc>
                  <a:txBody>
                    <a:bodyPr/>
                    <a:lstStyle/>
                    <a:p>
                      <a:pPr algn="ctr">
                        <a:defRPr sz="800">
                          <a:solidFill>
                            <a:srgbClr val="28A745"/>
                          </a:solidFill>
                          <a:latin typeface="Consolas"/>
                        </a:defRPr>
                      </a:pPr>
                      <a:r>
                        <a:t>$+579,624</a:t>
                      </a:r>
                    </a:p>
                  </a:txBody>
                  <a:tcPr>
                    <a:solidFill>
                      <a:srgbClr val="FFFFFF"/>
                    </a:solidFill>
                  </a:tcPr>
                </a:tc>
                <a:tc>
                  <a:txBody>
                    <a:bodyPr/>
                    <a:lstStyle/>
                    <a:p>
                      <a:pPr algn="ctr">
                        <a:defRPr sz="800">
                          <a:solidFill>
                            <a:srgbClr val="DC3545"/>
                          </a:solidFill>
                          <a:latin typeface="Consolas"/>
                        </a:defRPr>
                      </a:pPr>
                      <a:r>
                        <a:t>$-279,757</a:t>
                      </a:r>
                    </a:p>
                  </a:txBody>
                  <a:tcPr>
                    <a:solidFill>
                      <a:srgbClr val="FFFFFF"/>
                    </a:solidFill>
                  </a:tcPr>
                </a:tc>
                <a:tc>
                  <a:txBody>
                    <a:bodyPr/>
                    <a:lstStyle/>
                    <a:p>
                      <a:pPr algn="ctr">
                        <a:defRPr sz="800">
                          <a:solidFill>
                            <a:srgbClr val="DC3545"/>
                          </a:solidFill>
                          <a:latin typeface="Consolas"/>
                        </a:defRPr>
                      </a:pPr>
                      <a:r>
                        <a:t>$-1,070,876</a:t>
                      </a:r>
                    </a:p>
                  </a:txBody>
                  <a:tcPr>
                    <a:solidFill>
                      <a:srgbClr val="FFFFFF"/>
                    </a:solidFill>
                  </a:tcPr>
                </a:tc>
                <a:tc>
                  <a:txBody>
                    <a:bodyPr/>
                    <a:lstStyle/>
                    <a:p>
                      <a:pPr algn="ctr">
                        <a:defRPr sz="800">
                          <a:solidFill>
                            <a:srgbClr val="DC3545"/>
                          </a:solidFill>
                          <a:latin typeface="Consolas"/>
                        </a:defRPr>
                      </a:pPr>
                      <a:r>
                        <a:t>$-2,005,329</a:t>
                      </a:r>
                    </a:p>
                  </a:txBody>
                  <a:tcPr>
                    <a:solidFill>
                      <a:srgbClr val="FFFFFF"/>
                    </a:solidFill>
                  </a:tcPr>
                </a:tc>
              </a:tr>
              <a:tr h="365760">
                <a:tc>
                  <a:txBody>
                    <a:bodyPr/>
                    <a:lstStyle/>
                    <a:p>
                      <a:pPr algn="l">
                        <a:defRPr sz="800">
                          <a:solidFill>
                            <a:srgbClr val="212529"/>
                          </a:solidFill>
                          <a:latin typeface="Consolas"/>
                        </a:defRPr>
                      </a:pPr>
                      <a:r>
                        <a:t>20-35% Senior</a:t>
                      </a:r>
                    </a:p>
                  </a:txBody>
                  <a:tcPr>
                    <a:solidFill>
                      <a:srgbClr val="F8F9FA"/>
                    </a:solidFill>
                  </a:tcPr>
                </a:tc>
                <a:tc>
                  <a:txBody>
                    <a:bodyPr/>
                    <a:lstStyle/>
                    <a:p>
                      <a:pPr algn="ctr">
                        <a:defRPr sz="800">
                          <a:solidFill>
                            <a:srgbClr val="212529"/>
                          </a:solidFill>
                          <a:latin typeface="Consolas"/>
                        </a:defRPr>
                      </a:pPr>
                      <a:r>
                        <a:t>20%</a:t>
                      </a:r>
                    </a:p>
                  </a:txBody>
                  <a:tcPr>
                    <a:solidFill>
                      <a:srgbClr val="F8F9FA"/>
                    </a:solidFill>
                  </a:tcPr>
                </a:tc>
                <a:tc>
                  <a:txBody>
                    <a:bodyPr/>
                    <a:lstStyle/>
                    <a:p>
                      <a:pPr algn="ctr">
                        <a:defRPr sz="800">
                          <a:solidFill>
                            <a:srgbClr val="212529"/>
                          </a:solidFill>
                          <a:latin typeface="Consolas"/>
                        </a:defRPr>
                      </a:pPr>
                      <a:r>
                        <a:t>35%</a:t>
                      </a:r>
                    </a:p>
                  </a:txBody>
                  <a:tcPr>
                    <a:solidFill>
                      <a:srgbClr val="F8F9FA"/>
                    </a:solidFill>
                  </a:tcPr>
                </a:tc>
                <a:tc>
                  <a:txBody>
                    <a:bodyPr/>
                    <a:lstStyle/>
                    <a:p>
                      <a:pPr algn="ctr">
                        <a:defRPr sz="800">
                          <a:solidFill>
                            <a:srgbClr val="212529"/>
                          </a:solidFill>
                          <a:latin typeface="Consolas"/>
                        </a:defRPr>
                      </a:pPr>
                      <a:r>
                        <a:t>316bp</a:t>
                      </a:r>
                    </a:p>
                  </a:txBody>
                  <a:tcPr>
                    <a:solidFill>
                      <a:srgbClr val="F8F9FA"/>
                    </a:solidFill>
                  </a:tcPr>
                </a:tc>
                <a:tc>
                  <a:txBody>
                    <a:bodyPr/>
                    <a:lstStyle/>
                    <a:p>
                      <a:pPr algn="ctr">
                        <a:defRPr sz="800">
                          <a:solidFill>
                            <a:srgbClr val="212529"/>
                          </a:solidFill>
                          <a:latin typeface="Consolas"/>
                        </a:defRPr>
                      </a:pPr>
                      <a:r>
                        <a:t>$6,842</a:t>
                      </a:r>
                    </a:p>
                  </a:txBody>
                  <a:tcPr>
                    <a:solidFill>
                      <a:srgbClr val="F8F9FA"/>
                    </a:solidFill>
                  </a:tcPr>
                </a:tc>
                <a:tc>
                  <a:txBody>
                    <a:bodyPr/>
                    <a:lstStyle/>
                    <a:p>
                      <a:pPr algn="ctr">
                        <a:defRPr sz="800">
                          <a:solidFill>
                            <a:srgbClr val="212529"/>
                          </a:solidFill>
                          <a:latin typeface="Consolas"/>
                        </a:defRPr>
                      </a:pPr>
                      <a:r>
                        <a:t>1.70</a:t>
                      </a:r>
                    </a:p>
                  </a:txBody>
                  <a:tcPr>
                    <a:solidFill>
                      <a:srgbClr val="F8F9FA"/>
                    </a:solidFill>
                  </a:tcPr>
                </a:tc>
                <a:tc>
                  <a:txBody>
                    <a:bodyPr/>
                    <a:lstStyle/>
                    <a:p>
                      <a:pPr algn="ctr">
                        <a:defRPr sz="800">
                          <a:solidFill>
                            <a:srgbClr val="212529"/>
                          </a:solidFill>
                          <a:latin typeface="Consolas"/>
                        </a:defRPr>
                      </a:pPr>
                      <a:r>
                        <a:t>11.3x</a:t>
                      </a:r>
                    </a:p>
                  </a:txBody>
                  <a:tcPr>
                    <a:solidFill>
                      <a:srgbClr val="F8F9FA"/>
                    </a:solidFill>
                  </a:tcPr>
                </a:tc>
                <a:tc>
                  <a:txBody>
                    <a:bodyPr/>
                    <a:lstStyle/>
                    <a:p>
                      <a:pPr algn="ctr">
                        <a:defRPr sz="800">
                          <a:solidFill>
                            <a:srgbClr val="28A745"/>
                          </a:solidFill>
                          <a:latin typeface="Consolas"/>
                        </a:defRPr>
                      </a:pPr>
                      <a:r>
                        <a:t>$+337,930</a:t>
                      </a:r>
                    </a:p>
                  </a:txBody>
                  <a:tcPr>
                    <a:solidFill>
                      <a:srgbClr val="F8F9FA"/>
                    </a:solidFill>
                  </a:tcPr>
                </a:tc>
                <a:tc>
                  <a:txBody>
                    <a:bodyPr/>
                    <a:lstStyle/>
                    <a:p>
                      <a:pPr algn="ctr">
                        <a:defRPr sz="800">
                          <a:solidFill>
                            <a:srgbClr val="DC3545"/>
                          </a:solidFill>
                          <a:latin typeface="Consolas"/>
                        </a:defRPr>
                      </a:pPr>
                      <a:r>
                        <a:t>$-171,670</a:t>
                      </a:r>
                    </a:p>
                  </a:txBody>
                  <a:tcPr>
                    <a:solidFill>
                      <a:srgbClr val="F8F9FA"/>
                    </a:solidFill>
                  </a:tcPr>
                </a:tc>
                <a:tc>
                  <a:txBody>
                    <a:bodyPr/>
                    <a:lstStyle/>
                    <a:p>
                      <a:pPr algn="ctr">
                        <a:defRPr sz="800">
                          <a:solidFill>
                            <a:srgbClr val="DC3545"/>
                          </a:solidFill>
                          <a:latin typeface="Consolas"/>
                        </a:defRPr>
                      </a:pPr>
                      <a:r>
                        <a:t>$-689,068</a:t>
                      </a:r>
                    </a:p>
                  </a:txBody>
                  <a:tcPr>
                    <a:solidFill>
                      <a:srgbClr val="F8F9FA"/>
                    </a:solidFill>
                  </a:tcPr>
                </a:tc>
                <a:tc>
                  <a:txBody>
                    <a:bodyPr/>
                    <a:lstStyle/>
                    <a:p>
                      <a:pPr algn="ctr">
                        <a:defRPr sz="800">
                          <a:solidFill>
                            <a:srgbClr val="DC3545"/>
                          </a:solidFill>
                          <a:latin typeface="Consolas"/>
                        </a:defRPr>
                      </a:pPr>
                      <a:r>
                        <a:t>$-1,367,184</a:t>
                      </a:r>
                    </a:p>
                  </a:txBody>
                  <a:tcPr>
                    <a:solidFill>
                      <a:srgbClr val="F8F9FA"/>
                    </a:solidFill>
                  </a:tcPr>
                </a:tc>
              </a:tr>
              <a:tr h="365760">
                <a:tc>
                  <a:txBody>
                    <a:bodyPr/>
                    <a:lstStyle/>
                    <a:p>
                      <a:pPr algn="l">
                        <a:defRPr sz="800">
                          <a:solidFill>
                            <a:srgbClr val="212529"/>
                          </a:solidFill>
                          <a:latin typeface="Consolas"/>
                        </a:defRPr>
                      </a:pPr>
                      <a:r>
                        <a:t>35-100% Super Senior</a:t>
                      </a:r>
                    </a:p>
                  </a:txBody>
                  <a:tcPr>
                    <a:solidFill>
                      <a:srgbClr val="FFFFFF"/>
                    </a:solidFill>
                  </a:tcPr>
                </a:tc>
                <a:tc>
                  <a:txBody>
                    <a:bodyPr/>
                    <a:lstStyle/>
                    <a:p>
                      <a:pPr algn="ctr">
                        <a:defRPr sz="800">
                          <a:solidFill>
                            <a:srgbClr val="212529"/>
                          </a:solidFill>
                          <a:latin typeface="Consolas"/>
                        </a:defRPr>
                      </a:pPr>
                      <a:r>
                        <a:t>35%</a:t>
                      </a:r>
                    </a:p>
                  </a:txBody>
                  <a:tcPr>
                    <a:solidFill>
                      <a:srgbClr val="FFFFFF"/>
                    </a:solidFill>
                  </a:tcPr>
                </a:tc>
                <a:tc>
                  <a:txBody>
                    <a:bodyPr/>
                    <a:lstStyle/>
                    <a:p>
                      <a:pPr algn="ctr">
                        <a:defRPr sz="800">
                          <a:solidFill>
                            <a:srgbClr val="212529"/>
                          </a:solidFill>
                          <a:latin typeface="Consolas"/>
                        </a:defRPr>
                      </a:pPr>
                      <a:r>
                        <a:t>100%</a:t>
                      </a:r>
                    </a:p>
                  </a:txBody>
                  <a:tcPr>
                    <a:solidFill>
                      <a:srgbClr val="FFFFFF"/>
                    </a:solidFill>
                  </a:tcPr>
                </a:tc>
                <a:tc>
                  <a:txBody>
                    <a:bodyPr/>
                    <a:lstStyle/>
                    <a:p>
                      <a:pPr algn="ctr">
                        <a:defRPr sz="800">
                          <a:solidFill>
                            <a:srgbClr val="212529"/>
                          </a:solidFill>
                          <a:latin typeface="Consolas"/>
                        </a:defRPr>
                      </a:pPr>
                      <a:r>
                        <a:t>50bp</a:t>
                      </a:r>
                    </a:p>
                  </a:txBody>
                  <a:tcPr>
                    <a:solidFill>
                      <a:srgbClr val="FFFFFF"/>
                    </a:solidFill>
                  </a:tcPr>
                </a:tc>
                <a:tc>
                  <a:txBody>
                    <a:bodyPr/>
                    <a:lstStyle/>
                    <a:p>
                      <a:pPr algn="ctr">
                        <a:defRPr sz="800">
                          <a:solidFill>
                            <a:srgbClr val="212529"/>
                          </a:solidFill>
                          <a:latin typeface="Consolas"/>
                        </a:defRPr>
                      </a:pPr>
                      <a:r>
                        <a:t>$1,246</a:t>
                      </a:r>
                    </a:p>
                  </a:txBody>
                  <a:tcPr>
                    <a:solidFill>
                      <a:srgbClr val="FFFFFF"/>
                    </a:solidFill>
                  </a:tcPr>
                </a:tc>
                <a:tc>
                  <a:txBody>
                    <a:bodyPr/>
                    <a:lstStyle/>
                    <a:p>
                      <a:pPr algn="ctr">
                        <a:defRPr sz="800">
                          <a:solidFill>
                            <a:srgbClr val="212529"/>
                          </a:solidFill>
                          <a:latin typeface="Consolas"/>
                        </a:defRPr>
                      </a:pPr>
                      <a:r>
                        <a:t>0.28</a:t>
                      </a:r>
                    </a:p>
                  </a:txBody>
                  <a:tcPr>
                    <a:solidFill>
                      <a:srgbClr val="FFFFFF"/>
                    </a:solidFill>
                  </a:tcPr>
                </a:tc>
                <a:tc>
                  <a:txBody>
                    <a:bodyPr/>
                    <a:lstStyle/>
                    <a:p>
                      <a:pPr algn="ctr">
                        <a:defRPr sz="800">
                          <a:solidFill>
                            <a:srgbClr val="212529"/>
                          </a:solidFill>
                          <a:latin typeface="Consolas"/>
                        </a:defRPr>
                      </a:pPr>
                      <a:r>
                        <a:t>0.4x</a:t>
                      </a:r>
                    </a:p>
                  </a:txBody>
                  <a:tcPr>
                    <a:solidFill>
                      <a:srgbClr val="FFFFFF"/>
                    </a:solidFill>
                  </a:tcPr>
                </a:tc>
                <a:tc>
                  <a:txBody>
                    <a:bodyPr/>
                    <a:lstStyle/>
                    <a:p>
                      <a:pPr algn="ctr">
                        <a:defRPr sz="800">
                          <a:solidFill>
                            <a:srgbClr val="28A745"/>
                          </a:solidFill>
                          <a:latin typeface="Consolas"/>
                        </a:defRPr>
                      </a:pPr>
                      <a:r>
                        <a:t>$+60,229</a:t>
                      </a:r>
                    </a:p>
                  </a:txBody>
                  <a:tcPr>
                    <a:solidFill>
                      <a:srgbClr val="FFFFFF"/>
                    </a:solidFill>
                  </a:tcPr>
                </a:tc>
                <a:tc>
                  <a:txBody>
                    <a:bodyPr/>
                    <a:lstStyle/>
                    <a:p>
                      <a:pPr algn="ctr">
                        <a:defRPr sz="800">
                          <a:solidFill>
                            <a:srgbClr val="DC3545"/>
                          </a:solidFill>
                          <a:latin typeface="Consolas"/>
                        </a:defRPr>
                      </a:pPr>
                      <a:r>
                        <a:t>$-31,611</a:t>
                      </a:r>
                    </a:p>
                  </a:txBody>
                  <a:tcPr>
                    <a:solidFill>
                      <a:srgbClr val="FFFFFF"/>
                    </a:solidFill>
                  </a:tcPr>
                </a:tc>
                <a:tc>
                  <a:txBody>
                    <a:bodyPr/>
                    <a:lstStyle/>
                    <a:p>
                      <a:pPr algn="ctr">
                        <a:defRPr sz="800">
                          <a:solidFill>
                            <a:srgbClr val="DC3545"/>
                          </a:solidFill>
                          <a:latin typeface="Consolas"/>
                        </a:defRPr>
                      </a:pPr>
                      <a:r>
                        <a:t>$-131,052</a:t>
                      </a:r>
                    </a:p>
                  </a:txBody>
                  <a:tcPr>
                    <a:solidFill>
                      <a:srgbClr val="FFFFFF"/>
                    </a:solidFill>
                  </a:tcPr>
                </a:tc>
                <a:tc>
                  <a:txBody>
                    <a:bodyPr/>
                    <a:lstStyle/>
                    <a:p>
                      <a:pPr algn="ctr">
                        <a:defRPr sz="800">
                          <a:solidFill>
                            <a:srgbClr val="DC3545"/>
                          </a:solidFill>
                          <a:latin typeface="Consolas"/>
                        </a:defRPr>
                      </a:pPr>
                      <a:r>
                        <a:t>$-271,159</a:t>
                      </a:r>
                    </a:p>
                  </a:txBody>
                  <a:tcPr>
                    <a:solidFill>
                      <a:srgbClr val="FFFFFF"/>
                    </a:solidFill>
                  </a:tcPr>
                </a:tc>
              </a:tr>
            </a:tbl>
          </a:graphicData>
        </a:graphic>
      </p:graphicFrame>
      <p:sp>
        <p:nvSpPr>
          <p:cNvPr id="8" name="TextBox 7"/>
          <p:cNvSpPr txBox="1"/>
          <p:nvPr/>
        </p:nvSpPr>
        <p:spPr>
          <a:xfrm>
            <a:off x="731520" y="3840480"/>
            <a:ext cx="10728655" cy="2286000"/>
          </a:xfrm>
          <a:prstGeom prst="rect">
            <a:avLst/>
          </a:prstGeom>
          <a:noFill/>
        </p:spPr>
        <p:txBody>
          <a:bodyPr wrap="square">
            <a:spAutoFit/>
          </a:bodyPr>
          <a:lstStyle/>
          <a:p>
            <a:pPr algn="l">
              <a:defRPr sz="1000" b="0">
                <a:solidFill>
                  <a:srgbClr val="0D1B2A"/>
                </a:solidFill>
                <a:latin typeface="Calibri"/>
              </a:defRPr>
            </a:pPr>
            <a:r>
              <a:t>KEY INSIGHT: Equity tranche (0-10%) has 75.7x leverage with negative gamma -- P&amp;L accelerates non-linearly as spreads widen. This is the payoff structure you buy when you have a credit catalyst thesis. A +200bp move in the index generates over $2.1m loss on the equity tranche vs $271k on the super senior -- the protection buyer captures this asymmetry.</a:t>
            </a:r>
            <a:br/>
            <a:br/>
            <a:r>
              <a:t>Single-name blowout convexity: if a stressed name widens +250bp, per-name CS01 increases ~48% due to convexity acceleration. On a credit event with 33% recovery, jump-to-default payout can reach +$1.8m per name.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9144000" cy="457200"/>
          </a:xfrm>
          <a:prstGeom prst="rect">
            <a:avLst/>
          </a:prstGeom>
          <a:noFill/>
        </p:spPr>
        <p:txBody>
          <a:bodyPr wrap="square">
            <a:spAutoFit/>
          </a:bodyPr>
          <a:lstStyle/>
          <a:p>
            <a:pPr algn="l">
              <a:defRPr sz="2400" b="1">
                <a:solidFill>
                  <a:srgbClr val="FFFFFF"/>
                </a:solidFill>
                <a:latin typeface="Calibri"/>
              </a:defRPr>
            </a:pPr>
            <a:r>
              <a:t>ONBOARDING PLAN</a:t>
            </a:r>
          </a:p>
        </p:txBody>
      </p:sp>
      <p:sp>
        <p:nvSpPr>
          <p:cNvPr id="4" name="TextBox 3"/>
          <p:cNvSpPr txBox="1"/>
          <p:nvPr/>
        </p:nvSpPr>
        <p:spPr>
          <a:xfrm>
            <a:off x="731520" y="594360"/>
            <a:ext cx="9144000" cy="365760"/>
          </a:xfrm>
          <a:prstGeom prst="rect">
            <a:avLst/>
          </a:prstGeom>
          <a:noFill/>
        </p:spPr>
        <p:txBody>
          <a:bodyPr wrap="square">
            <a:spAutoFit/>
          </a:bodyPr>
          <a:lstStyle/>
          <a:p>
            <a:pPr algn="l">
              <a:defRPr sz="1300" b="0">
                <a:solidFill>
                  <a:srgbClr val="778DA9"/>
                </a:solidFill>
                <a:latin typeface="Calibri"/>
              </a:defRPr>
            </a:pPr>
            <a:r>
              <a:t>First 90 days -- from allocation to full deployment</a:t>
            </a:r>
          </a:p>
        </p:txBody>
      </p:sp>
      <p:sp>
        <p:nvSpPr>
          <p:cNvPr id="5" name="TextBox 4"/>
          <p:cNvSpPr txBox="1"/>
          <p:nvPr/>
        </p:nvSpPr>
        <p:spPr>
          <a:xfrm>
            <a:off x="9326880" y="228600"/>
            <a:ext cx="2560320" cy="365760"/>
          </a:xfrm>
          <a:prstGeom prst="rect">
            <a:avLst/>
          </a:prstGeom>
          <a:noFill/>
        </p:spPr>
        <p:txBody>
          <a:bodyPr wrap="square">
            <a:spAutoFit/>
          </a:bodyPr>
          <a:lstStyle/>
          <a:p>
            <a:pPr algn="r">
              <a:defRPr sz="1100" b="1">
                <a:solidFill>
                  <a:srgbClr val="3B82F6"/>
                </a:solidFill>
                <a:latin typeface="Calibri"/>
              </a:defRPr>
            </a:pPr>
            <a:r>
              <a:t>MACRO CREDIT MONITOR</a:t>
            </a:r>
          </a:p>
        </p:txBody>
      </p:sp>
      <p:sp>
        <p:nvSpPr>
          <p:cNvPr id="6" name="TextBox 5"/>
          <p:cNvSpPr txBox="1"/>
          <p:nvPr/>
        </p:nvSpPr>
        <p:spPr>
          <a:xfrm>
            <a:off x="731520" y="6400800"/>
            <a:ext cx="9144000" cy="274320"/>
          </a:xfrm>
          <a:prstGeom prst="rect">
            <a:avLst/>
          </a:prstGeom>
          <a:noFill/>
        </p:spPr>
        <p:txBody>
          <a:bodyPr wrap="square">
            <a:spAutoFit/>
          </a:bodyPr>
          <a:lstStyle/>
          <a:p>
            <a:pPr algn="l">
              <a:defRPr sz="800" b="0">
                <a:solidFill>
                  <a:srgbClr val="778DA9"/>
                </a:solidFill>
                <a:latin typeface="Calibri"/>
              </a:defRPr>
            </a:pPr>
            <a:r>
              <a:t>BRUMMER &amp; PARTNERS PITCH  |  CONFIDENTIAL  |  2026-02-26</a:t>
            </a:r>
          </a:p>
        </p:txBody>
      </p:sp>
      <p:sp>
        <p:nvSpPr>
          <p:cNvPr id="7" name="Rectangle 6"/>
          <p:cNvSpPr/>
          <p:nvPr/>
        </p:nvSpPr>
        <p:spPr>
          <a:xfrm>
            <a:off x="731520" y="1371600"/>
            <a:ext cx="3291840" cy="36576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371600"/>
            <a:ext cx="3108960" cy="365760"/>
          </a:xfrm>
          <a:prstGeom prst="rect">
            <a:avLst/>
          </a:prstGeom>
          <a:noFill/>
        </p:spPr>
        <p:txBody>
          <a:bodyPr wrap="square">
            <a:spAutoFit/>
          </a:bodyPr>
          <a:lstStyle/>
          <a:p>
            <a:pPr algn="l">
              <a:defRPr sz="1300" b="1">
                <a:solidFill>
                  <a:srgbClr val="FFFFFF"/>
                </a:solidFill>
                <a:latin typeface="Calibri"/>
              </a:defRPr>
            </a:pPr>
            <a:r>
              <a:t>DAYS 1-30</a:t>
            </a:r>
          </a:p>
        </p:txBody>
      </p:sp>
      <p:sp>
        <p:nvSpPr>
          <p:cNvPr id="9" name="TextBox 8"/>
          <p:cNvSpPr txBox="1"/>
          <p:nvPr/>
        </p:nvSpPr>
        <p:spPr>
          <a:xfrm>
            <a:off x="731520" y="1828800"/>
            <a:ext cx="3291840" cy="320040"/>
          </a:xfrm>
          <a:prstGeom prst="rect">
            <a:avLst/>
          </a:prstGeom>
          <a:noFill/>
        </p:spPr>
        <p:txBody>
          <a:bodyPr wrap="square">
            <a:spAutoFit/>
          </a:bodyPr>
          <a:lstStyle/>
          <a:p>
            <a:pPr algn="l">
              <a:defRPr sz="1100" b="1">
                <a:solidFill>
                  <a:srgbClr val="0D1B2A"/>
                </a:solidFill>
                <a:latin typeface="Calibri"/>
              </a:defRPr>
            </a:pPr>
            <a:r>
              <a:t>SETUP &amp; INITIAL DEPLOYMENT</a:t>
            </a:r>
          </a:p>
        </p:txBody>
      </p:sp>
      <p:sp>
        <p:nvSpPr>
          <p:cNvPr id="10" name="TextBox 9"/>
          <p:cNvSpPr txBox="1"/>
          <p:nvPr/>
        </p:nvSpPr>
        <p:spPr>
          <a:xfrm>
            <a:off x="731520" y="2240280"/>
            <a:ext cx="3291840" cy="3657600"/>
          </a:xfrm>
          <a:prstGeom prst="rect">
            <a:avLst/>
          </a:prstGeom>
          <a:noFill/>
        </p:spPr>
        <p:txBody>
          <a:bodyPr wrap="square">
            <a:spAutoFit/>
          </a:bodyPr>
          <a:lstStyle/>
          <a:p>
            <a:pPr algn="l">
              <a:defRPr sz="1000" b="0">
                <a:solidFill>
                  <a:srgbClr val="415A77"/>
                </a:solidFill>
                <a:latin typeface="Calibri"/>
              </a:defRPr>
            </a:pPr>
          </a:p>
          <a:p>
            <a:pPr algn="l">
              <a:spcBef>
                <a:spcPts val="400"/>
              </a:spcBef>
              <a:spcAft>
                <a:spcPts val="100"/>
              </a:spcAft>
              <a:defRPr sz="900" b="0">
                <a:solidFill>
                  <a:srgbClr val="415A77"/>
                </a:solidFill>
                <a:latin typeface="Calibri"/>
              </a:defRPr>
            </a:pPr>
            <a:r>
              <a:t>   Legal/compliance onboarding, ISDA agreements, broker setup</a:t>
            </a:r>
          </a:p>
          <a:p>
            <a:pPr algn="l">
              <a:spcBef>
                <a:spcPts val="400"/>
              </a:spcBef>
              <a:spcAft>
                <a:spcPts val="100"/>
              </a:spcAft>
              <a:defRPr sz="900" b="0">
                <a:solidFill>
                  <a:srgbClr val="415A77"/>
                </a:solidFill>
                <a:latin typeface="Calibri"/>
              </a:defRPr>
            </a:pPr>
            <a:r>
              <a:t>   Connect monitoring platform to Brummer infrastructure</a:t>
            </a:r>
          </a:p>
          <a:p>
            <a:pPr algn="l">
              <a:spcBef>
                <a:spcPts val="400"/>
              </a:spcBef>
              <a:spcAft>
                <a:spcPts val="100"/>
              </a:spcAft>
              <a:defRPr sz="900" b="0">
                <a:solidFill>
                  <a:srgbClr val="415A77"/>
                </a:solidFill>
                <a:latin typeface="Calibri"/>
              </a:defRPr>
            </a:pPr>
            <a:r>
              <a:t>   Initial $50m deployment in liquid single-name CDS (Main index names)</a:t>
            </a:r>
          </a:p>
          <a:p>
            <a:pPr algn="l">
              <a:spcBef>
                <a:spcPts val="400"/>
              </a:spcBef>
              <a:spcAft>
                <a:spcPts val="100"/>
              </a:spcAft>
              <a:defRPr sz="900" b="0">
                <a:solidFill>
                  <a:srgbClr val="415A77"/>
                </a:solidFill>
                <a:latin typeface="Calibri"/>
              </a:defRPr>
            </a:pPr>
            <a:r>
              <a:t>   Establish daily risk reporting and P&amp;L attribution framework</a:t>
            </a:r>
          </a:p>
          <a:p>
            <a:pPr algn="l">
              <a:spcBef>
                <a:spcPts val="400"/>
              </a:spcBef>
              <a:spcAft>
                <a:spcPts val="100"/>
              </a:spcAft>
              <a:defRPr sz="900" b="0">
                <a:solidFill>
                  <a:srgbClr val="415A77"/>
                </a:solidFill>
                <a:latin typeface="Calibri"/>
              </a:defRPr>
            </a:pPr>
            <a:r>
              <a:t>   Deploy credit documentation analysis across priority Crossover names</a:t>
            </a:r>
          </a:p>
        </p:txBody>
      </p:sp>
      <p:sp>
        <p:nvSpPr>
          <p:cNvPr id="11" name="Rectangle 10"/>
          <p:cNvSpPr/>
          <p:nvPr/>
        </p:nvSpPr>
        <p:spPr>
          <a:xfrm>
            <a:off x="4297680" y="1371600"/>
            <a:ext cx="3291840" cy="36576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0" y="1371600"/>
            <a:ext cx="3108960" cy="365760"/>
          </a:xfrm>
          <a:prstGeom prst="rect">
            <a:avLst/>
          </a:prstGeom>
          <a:noFill/>
        </p:spPr>
        <p:txBody>
          <a:bodyPr wrap="square">
            <a:spAutoFit/>
          </a:bodyPr>
          <a:lstStyle/>
          <a:p>
            <a:pPr algn="l">
              <a:defRPr sz="1300" b="1">
                <a:solidFill>
                  <a:srgbClr val="FFFFFF"/>
                </a:solidFill>
                <a:latin typeface="Calibri"/>
              </a:defRPr>
            </a:pPr>
            <a:r>
              <a:t>DAYS 31-60</a:t>
            </a:r>
          </a:p>
        </p:txBody>
      </p:sp>
      <p:sp>
        <p:nvSpPr>
          <p:cNvPr id="13" name="TextBox 12"/>
          <p:cNvSpPr txBox="1"/>
          <p:nvPr/>
        </p:nvSpPr>
        <p:spPr>
          <a:xfrm>
            <a:off x="4297680" y="1828800"/>
            <a:ext cx="3291840" cy="320040"/>
          </a:xfrm>
          <a:prstGeom prst="rect">
            <a:avLst/>
          </a:prstGeom>
          <a:noFill/>
        </p:spPr>
        <p:txBody>
          <a:bodyPr wrap="square">
            <a:spAutoFit/>
          </a:bodyPr>
          <a:lstStyle/>
          <a:p>
            <a:pPr algn="l">
              <a:defRPr sz="1100" b="1">
                <a:solidFill>
                  <a:srgbClr val="0D1B2A"/>
                </a:solidFill>
                <a:latin typeface="Calibri"/>
              </a:defRPr>
            </a:pPr>
            <a:r>
              <a:t>RAMP &amp; DIVERSIFY</a:t>
            </a:r>
          </a:p>
        </p:txBody>
      </p:sp>
      <p:sp>
        <p:nvSpPr>
          <p:cNvPr id="14" name="TextBox 13"/>
          <p:cNvSpPr txBox="1"/>
          <p:nvPr/>
        </p:nvSpPr>
        <p:spPr>
          <a:xfrm>
            <a:off x="4297680" y="2240280"/>
            <a:ext cx="3291840" cy="3657600"/>
          </a:xfrm>
          <a:prstGeom prst="rect">
            <a:avLst/>
          </a:prstGeom>
          <a:noFill/>
        </p:spPr>
        <p:txBody>
          <a:bodyPr wrap="square">
            <a:spAutoFit/>
          </a:bodyPr>
          <a:lstStyle/>
          <a:p>
            <a:pPr algn="l">
              <a:defRPr sz="1000" b="0">
                <a:solidFill>
                  <a:srgbClr val="415A77"/>
                </a:solidFill>
                <a:latin typeface="Calibri"/>
              </a:defRPr>
            </a:pPr>
          </a:p>
          <a:p>
            <a:pPr algn="l">
              <a:spcBef>
                <a:spcPts val="400"/>
              </a:spcBef>
              <a:spcAft>
                <a:spcPts val="100"/>
              </a:spcAft>
              <a:defRPr sz="900" b="0">
                <a:solidFill>
                  <a:srgbClr val="415A77"/>
                </a:solidFill>
                <a:latin typeface="Calibri"/>
              </a:defRPr>
            </a:pPr>
            <a:r>
              <a:t>   Scale to $150m -- add Crossover single-name positions and basis trades</a:t>
            </a:r>
          </a:p>
          <a:p>
            <a:pPr algn="l">
              <a:spcBef>
                <a:spcPts val="400"/>
              </a:spcBef>
              <a:spcAft>
                <a:spcPts val="100"/>
              </a:spcAft>
              <a:defRPr sz="900" b="0">
                <a:solidFill>
                  <a:srgbClr val="415A77"/>
                </a:solidFill>
                <a:latin typeface="Calibri"/>
              </a:defRPr>
            </a:pPr>
            <a:r>
              <a:t>   Initiate first tranche positions (equity/mezzanine dispersion trades)</a:t>
            </a:r>
          </a:p>
          <a:p>
            <a:pPr algn="l">
              <a:spcBef>
                <a:spcPts val="400"/>
              </a:spcBef>
              <a:spcAft>
                <a:spcPts val="100"/>
              </a:spcAft>
              <a:defRPr sz="900" b="0">
                <a:solidFill>
                  <a:srgbClr val="415A77"/>
                </a:solidFill>
                <a:latin typeface="Calibri"/>
              </a:defRPr>
            </a:pPr>
            <a:r>
              <a:t>   Full 8-scenario stress testing with live portfolio data</a:t>
            </a:r>
          </a:p>
          <a:p>
            <a:pPr algn="l">
              <a:spcBef>
                <a:spcPts val="400"/>
              </a:spcBef>
              <a:spcAft>
                <a:spcPts val="100"/>
              </a:spcAft>
              <a:defRPr sz="900" b="0">
                <a:solidFill>
                  <a:srgbClr val="415A77"/>
                </a:solidFill>
                <a:latin typeface="Calibri"/>
              </a:defRPr>
            </a:pPr>
            <a:r>
              <a:t>   Weekly strategy review with risk committee</a:t>
            </a:r>
          </a:p>
          <a:p>
            <a:pPr algn="l">
              <a:spcBef>
                <a:spcPts val="400"/>
              </a:spcBef>
              <a:spcAft>
                <a:spcPts val="100"/>
              </a:spcAft>
              <a:defRPr sz="900" b="0">
                <a:solidFill>
                  <a:srgbClr val="415A77"/>
                </a:solidFill>
                <a:latin typeface="Calibri"/>
              </a:defRPr>
            </a:pPr>
            <a:r>
              <a:t>   Calibrate stop-loss levels to observed portfolio volatility</a:t>
            </a:r>
          </a:p>
        </p:txBody>
      </p:sp>
      <p:sp>
        <p:nvSpPr>
          <p:cNvPr id="15" name="Rectangle 14"/>
          <p:cNvSpPr/>
          <p:nvPr/>
        </p:nvSpPr>
        <p:spPr>
          <a:xfrm>
            <a:off x="7863840" y="1371600"/>
            <a:ext cx="3291840" cy="36576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55280" y="1371600"/>
            <a:ext cx="3108960" cy="365760"/>
          </a:xfrm>
          <a:prstGeom prst="rect">
            <a:avLst/>
          </a:prstGeom>
          <a:noFill/>
        </p:spPr>
        <p:txBody>
          <a:bodyPr wrap="square">
            <a:spAutoFit/>
          </a:bodyPr>
          <a:lstStyle/>
          <a:p>
            <a:pPr algn="l">
              <a:defRPr sz="1300" b="1">
                <a:solidFill>
                  <a:srgbClr val="FFFFFF"/>
                </a:solidFill>
                <a:latin typeface="Calibri"/>
              </a:defRPr>
            </a:pPr>
            <a:r>
              <a:t>DAYS 61-90</a:t>
            </a:r>
          </a:p>
        </p:txBody>
      </p:sp>
      <p:sp>
        <p:nvSpPr>
          <p:cNvPr id="17" name="TextBox 16"/>
          <p:cNvSpPr txBox="1"/>
          <p:nvPr/>
        </p:nvSpPr>
        <p:spPr>
          <a:xfrm>
            <a:off x="7863840" y="1828800"/>
            <a:ext cx="3291840" cy="320040"/>
          </a:xfrm>
          <a:prstGeom prst="rect">
            <a:avLst/>
          </a:prstGeom>
          <a:noFill/>
        </p:spPr>
        <p:txBody>
          <a:bodyPr wrap="square">
            <a:spAutoFit/>
          </a:bodyPr>
          <a:lstStyle/>
          <a:p>
            <a:pPr algn="l">
              <a:defRPr sz="1100" b="1">
                <a:solidFill>
                  <a:srgbClr val="0D1B2A"/>
                </a:solidFill>
                <a:latin typeface="Calibri"/>
              </a:defRPr>
            </a:pPr>
            <a:r>
              <a:t>FULL DEPLOYMENT</a:t>
            </a:r>
          </a:p>
        </p:txBody>
      </p:sp>
      <p:sp>
        <p:nvSpPr>
          <p:cNvPr id="18" name="TextBox 17"/>
          <p:cNvSpPr txBox="1"/>
          <p:nvPr/>
        </p:nvSpPr>
        <p:spPr>
          <a:xfrm>
            <a:off x="7863840" y="2240280"/>
            <a:ext cx="3291840" cy="3657600"/>
          </a:xfrm>
          <a:prstGeom prst="rect">
            <a:avLst/>
          </a:prstGeom>
          <a:noFill/>
        </p:spPr>
        <p:txBody>
          <a:bodyPr wrap="square">
            <a:spAutoFit/>
          </a:bodyPr>
          <a:lstStyle/>
          <a:p>
            <a:pPr algn="l">
              <a:defRPr sz="1000" b="0">
                <a:solidFill>
                  <a:srgbClr val="415A77"/>
                </a:solidFill>
                <a:latin typeface="Calibri"/>
              </a:defRPr>
            </a:pPr>
          </a:p>
          <a:p>
            <a:pPr algn="l">
              <a:spcBef>
                <a:spcPts val="400"/>
              </a:spcBef>
              <a:spcAft>
                <a:spcPts val="100"/>
              </a:spcAft>
              <a:defRPr sz="900" b="0">
                <a:solidFill>
                  <a:srgbClr val="415A77"/>
                </a:solidFill>
                <a:latin typeface="Calibri"/>
              </a:defRPr>
            </a:pPr>
            <a:r>
              <a:t>   Full $250m deployment across CDS, bonds, tranches, and credit options</a:t>
            </a:r>
          </a:p>
          <a:p>
            <a:pPr algn="l">
              <a:spcBef>
                <a:spcPts val="400"/>
              </a:spcBef>
              <a:spcAft>
                <a:spcPts val="100"/>
              </a:spcAft>
              <a:defRPr sz="900" b="0">
                <a:solidFill>
                  <a:srgbClr val="415A77"/>
                </a:solidFill>
                <a:latin typeface="Calibri"/>
              </a:defRPr>
            </a:pPr>
            <a:r>
              <a:t>   All instrument types active with full risk limit monitoring</a:t>
            </a:r>
          </a:p>
          <a:p>
            <a:pPr algn="l">
              <a:spcBef>
                <a:spcPts val="400"/>
              </a:spcBef>
              <a:spcAft>
                <a:spcPts val="100"/>
              </a:spcAft>
              <a:defRPr sz="900" b="0">
                <a:solidFill>
                  <a:srgbClr val="415A77"/>
                </a:solidFill>
                <a:latin typeface="Calibri"/>
              </a:defRPr>
            </a:pPr>
            <a:r>
              <a:t>   Automated daily briefing from monitoring platform live and operational</a:t>
            </a:r>
          </a:p>
          <a:p>
            <a:pPr algn="l">
              <a:spcBef>
                <a:spcPts val="400"/>
              </a:spcBef>
              <a:spcAft>
                <a:spcPts val="100"/>
              </a:spcAft>
              <a:defRPr sz="900" b="0">
                <a:solidFill>
                  <a:srgbClr val="415A77"/>
                </a:solidFill>
                <a:latin typeface="Calibri"/>
              </a:defRPr>
            </a:pPr>
            <a:r>
              <a:t>   First quarterly performance review and strategy assessment</a:t>
            </a:r>
          </a:p>
          <a:p>
            <a:pPr algn="l">
              <a:spcBef>
                <a:spcPts val="400"/>
              </a:spcBef>
              <a:spcAft>
                <a:spcPts val="100"/>
              </a:spcAft>
              <a:defRPr sz="900" b="0">
                <a:solidFill>
                  <a:srgbClr val="415A77"/>
                </a:solidFill>
                <a:latin typeface="Calibri"/>
              </a:defRPr>
            </a:pPr>
            <a:r>
              <a:t>   Demonstrate platform value: signals caught, trades executed, P&amp;L generated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731520" y="914400"/>
            <a:ext cx="10728655" cy="548640"/>
          </a:xfrm>
          <a:prstGeom prst="rect">
            <a:avLst/>
          </a:prstGeom>
          <a:noFill/>
        </p:spPr>
        <p:txBody>
          <a:bodyPr wrap="square">
            <a:spAutoFit/>
          </a:bodyPr>
          <a:lstStyle/>
          <a:p>
            <a:pPr algn="l">
              <a:defRPr sz="1400" b="0">
                <a:solidFill>
                  <a:srgbClr val="415A77"/>
                </a:solidFill>
                <a:latin typeface="Calibri"/>
              </a:defRPr>
            </a:pPr>
            <a:r>
              <a:t>T H E   A S K</a:t>
            </a:r>
          </a:p>
        </p:txBody>
      </p:sp>
      <p:sp>
        <p:nvSpPr>
          <p:cNvPr id="3" name="Rectangle 2"/>
          <p:cNvSpPr/>
          <p:nvPr/>
        </p:nvSpPr>
        <p:spPr>
          <a:xfrm>
            <a:off x="731520" y="1463040"/>
            <a:ext cx="2743200" cy="2743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737360"/>
            <a:ext cx="10728655" cy="457200"/>
          </a:xfrm>
          <a:prstGeom prst="rect">
            <a:avLst/>
          </a:prstGeom>
          <a:noFill/>
        </p:spPr>
        <p:txBody>
          <a:bodyPr wrap="square">
            <a:spAutoFit/>
          </a:bodyPr>
          <a:lstStyle/>
          <a:p>
            <a:pPr algn="l">
              <a:defRPr sz="2800" b="1">
                <a:solidFill>
                  <a:srgbClr val="FFFFFF"/>
                </a:solidFill>
                <a:latin typeface="Calibri"/>
              </a:defRPr>
            </a:pPr>
            <a:r>
              <a:t>$250m capital allocation</a:t>
            </a:r>
          </a:p>
        </p:txBody>
      </p:sp>
      <p:sp>
        <p:nvSpPr>
          <p:cNvPr id="5" name="TextBox 4"/>
          <p:cNvSpPr txBox="1"/>
          <p:nvPr/>
        </p:nvSpPr>
        <p:spPr>
          <a:xfrm>
            <a:off x="731520" y="2377440"/>
            <a:ext cx="10728655" cy="365760"/>
          </a:xfrm>
          <a:prstGeom prst="rect">
            <a:avLst/>
          </a:prstGeom>
          <a:noFill/>
        </p:spPr>
        <p:txBody>
          <a:bodyPr wrap="square">
            <a:spAutoFit/>
          </a:bodyPr>
          <a:lstStyle/>
          <a:p>
            <a:pPr algn="l">
              <a:defRPr sz="1800" b="0">
                <a:solidFill>
                  <a:srgbClr val="3B82F6"/>
                </a:solidFill>
                <a:latin typeface="Calibri"/>
              </a:defRPr>
            </a:pPr>
            <a:r>
              <a:t>Solo PM + proprietary AI technology stack</a:t>
            </a:r>
          </a:p>
        </p:txBody>
      </p:sp>
      <p:sp>
        <p:nvSpPr>
          <p:cNvPr id="6" name="TextBox 5"/>
          <p:cNvSpPr txBox="1"/>
          <p:nvPr/>
        </p:nvSpPr>
        <p:spPr>
          <a:xfrm>
            <a:off x="731520" y="3200400"/>
            <a:ext cx="8229600" cy="2743200"/>
          </a:xfrm>
          <a:prstGeom prst="rect">
            <a:avLst/>
          </a:prstGeom>
          <a:noFill/>
        </p:spPr>
        <p:txBody>
          <a:bodyPr wrap="square">
            <a:spAutoFit/>
          </a:bodyPr>
          <a:lstStyle/>
          <a:p>
            <a:pPr algn="l">
              <a:defRPr sz="1400" b="0">
                <a:solidFill>
                  <a:srgbClr val="FFFFFF"/>
                </a:solidFill>
                <a:latin typeface="Calibri"/>
              </a:defRPr>
            </a:pPr>
          </a:p>
          <a:p>
            <a:pPr algn="l">
              <a:spcBef>
                <a:spcPts val="800"/>
              </a:spcBef>
              <a:spcAft>
                <a:spcPts val="200"/>
              </a:spcAft>
              <a:defRPr sz="1300" b="0">
                <a:solidFill>
                  <a:srgbClr val="F8F9FA"/>
                </a:solidFill>
                <a:latin typeface="Calibri"/>
              </a:defRPr>
            </a:pPr>
            <a:r>
              <a:t>   28-year track record in European credit with verifiable P&amp;L</a:t>
            </a:r>
          </a:p>
          <a:p>
            <a:pPr algn="l">
              <a:spcBef>
                <a:spcPts val="800"/>
              </a:spcBef>
              <a:spcAft>
                <a:spcPts val="200"/>
              </a:spcAft>
              <a:defRPr sz="1300" b="0">
                <a:solidFill>
                  <a:srgbClr val="F8F9FA"/>
                </a:solidFill>
                <a:latin typeface="Calibri"/>
              </a:defRPr>
            </a:pPr>
            <a:r>
              <a:t>   Rare combination: fundamental credit analyst + derivatives structurer in one PM</a:t>
            </a:r>
          </a:p>
          <a:p>
            <a:pPr algn="l">
              <a:spcBef>
                <a:spcPts val="800"/>
              </a:spcBef>
              <a:spcAft>
                <a:spcPts val="200"/>
              </a:spcAft>
              <a:defRPr sz="1300" b="0">
                <a:solidFill>
                  <a:srgbClr val="F8F9FA"/>
                </a:solidFill>
                <a:latin typeface="Calibri"/>
              </a:defRPr>
            </a:pPr>
            <a:r>
              <a:t>   AI platform monitoring 200 names 24/7 -- filing surveillance, forensic analysis, management tone detection, covenant scrubbing</a:t>
            </a:r>
          </a:p>
          <a:p>
            <a:pPr algn="l">
              <a:spcBef>
                <a:spcPts val="800"/>
              </a:spcBef>
              <a:spcAft>
                <a:spcPts val="200"/>
              </a:spcAft>
              <a:defRPr sz="1300" b="0">
                <a:solidFill>
                  <a:srgbClr val="F8F9FA"/>
                </a:solidFill>
                <a:latin typeface="Calibri"/>
              </a:defRPr>
            </a:pPr>
            <a:r>
              <a:t>   Capital efficient: solo PM, no team overhead, immediate deployment</a:t>
            </a:r>
          </a:p>
          <a:p>
            <a:pPr algn="l">
              <a:spcBef>
                <a:spcPts val="800"/>
              </a:spcBef>
              <a:spcAft>
                <a:spcPts val="200"/>
              </a:spcAft>
              <a:defRPr sz="1300" b="0">
                <a:solidFill>
                  <a:srgbClr val="F8F9FA"/>
                </a:solidFill>
                <a:latin typeface="Calibri"/>
              </a:defRPr>
            </a:pPr>
            <a:r>
              <a:t>   Platform-compatible risk framework from day one (1% daily / 2% weekly / 3.5% monthly / 5% max P2T)</a:t>
            </a:r>
          </a:p>
          <a:p>
            <a:pPr algn="l">
              <a:spcBef>
                <a:spcPts val="800"/>
              </a:spcBef>
              <a:spcAft>
                <a:spcPts val="200"/>
              </a:spcAft>
              <a:defRPr sz="1300" b="0">
                <a:solidFill>
                  <a:srgbClr val="F8F9FA"/>
                </a:solidFill>
                <a:latin typeface="Calibri"/>
              </a:defRPr>
            </a:pPr>
            <a:r>
              <a:t>   Strategy that is genuinely differentiated from existing BMS pods</a:t>
            </a:r>
          </a:p>
        </p:txBody>
      </p:sp>
      <p:sp>
        <p:nvSpPr>
          <p:cNvPr id="7" name="Rectangle 6"/>
          <p:cNvSpPr/>
          <p:nvPr/>
        </p:nvSpPr>
        <p:spPr>
          <a:xfrm>
            <a:off x="731520" y="5943600"/>
            <a:ext cx="5486400" cy="27432"/>
          </a:xfrm>
          <a:prstGeom prst="rect">
            <a:avLst/>
          </a:prstGeom>
          <a:solidFill>
            <a:srgbClr val="415A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080760"/>
            <a:ext cx="10728655" cy="274320"/>
          </a:xfrm>
          <a:prstGeom prst="rect">
            <a:avLst/>
          </a:prstGeom>
          <a:noFill/>
        </p:spPr>
        <p:txBody>
          <a:bodyPr wrap="square">
            <a:spAutoFit/>
          </a:bodyPr>
          <a:lstStyle/>
          <a:p>
            <a:pPr algn="l">
              <a:defRPr sz="1100" b="0">
                <a:solidFill>
                  <a:srgbClr val="778DA9"/>
                </a:solidFill>
                <a:latin typeface="Calibri"/>
              </a:defRPr>
            </a:pPr>
            <a:r>
              <a:t>Matt Bristow  |  toget_mattbristow@hotmail.co.uk  |  +44 7809 158381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